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52" autoAdjust="0"/>
  </p:normalViewPr>
  <p:slideViewPr>
    <p:cSldViewPr snapToGrid="0" snapToObjects="1">
      <p:cViewPr varScale="1">
        <p:scale>
          <a:sx n="77" d="100"/>
          <a:sy n="77" d="100"/>
        </p:scale>
        <p:origin x="883"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246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Dobar dan svima. Danas ćemo vam predstaviti rad pod nazivom 'FakeAd - AI sistem za detekciju lažnih oglasa'. Ovaj rad je izrađen pod mentorstvom profesora dr Leonida Stoimenova, a radile smo Iva Blagojević i Ljiljana Stojičić. Predmet našeg rada je bezbednost na tržištu rada, konkretno automatizovana borba protiv prevara u oglasima za posao.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Lažni oglasi za posao su gorući problem na internetu. Prevaranti zloupotrebljavaju nadu i potrebu ljudi za poslom. Prevare više nisu banalne – one su visokosofisticirane. Naš sistem FakeAd rešava ovaj izazov tako što automatski detektuje sumnjive tekstove i odmah objašnjava zašto veruje da je reč o prevari.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EMSCAD skup je standardni zlatni standard u akademskoj zajednici za ovaj problem. Obuhvata i tekstualne i meta-podatke. Metapodaci, kao što je prisustvo logotipa ili rad na daljinu, daju dodatne signale, ali mi smo se primarno fokusirali na tekst jer prevaranti najteže mogu sakriti anomalije u pisanom sadržaju.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 realnom svetu lažni oglasi su retki, pa je naš skup izrazito neuravnotežen – samo 4,84% su lažni oglasi. Ako bismo pustili model da se trenira bez korekcija, on bi naučio najjednostavniju prečicu: reci da je sve regularno i imaćeš tačnost 95%. Zato smo uveli ponderisane težine klasa kako bismo naterali model da pažljivo analizira retku klasu.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 nego što podaci odu u modele, moramo ih pripremiti. Oglasi u bazi često sadrže ostatke HTML dizajna. Nakon čišćenja, spajamo 5 tekstualnih polja u jedan jedinstven ulaz koji daje celokupan kontekst oglasa. Na kraju vršimo stratifikovanu podelu u odnosu 80:20, što garantuje da će i trening i test skup imati tačno 4,84% lažnih primera.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Tokom eksploratorne analize primetili smo dve ključne stvari. Prvo, dužina: lažni oglasi su u proseku kraći za oko 600 karaktera. Drugo, struktura: lažni oglasi retko imaju popunjen profil kompanije jer prevaranti nemaju pravu istoriju firme koju bi opisali. Ovi jednostavni uvidi potvrđuju da sâma struktura teksta nosi značajan signal za prepoznavanje prevare.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Naš bazični model je logistička regresija na TF-IDF reprezentaciji teksta. To je klasičan standard za klasifikaciju teksta. Njegova glavna snaga je brzina treniranja i apsolutna transparentnost. On služi kao 'baseline' – svako složenije AI rešenje koje predložimo mora da pokaže bolje performanse od ovoga da bi opravdalo svoju cenu.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Prelazimo na naš glavni klasifikator. Zašto transformeri? Zato što TF-IDF ne razume kontekst. Ako oglas sadrži frazu 'no credit check', to može biti prevara, ali može biti i regularna fraza u nekom drugom kontekstu. DistilBERT analizira levo i desno od svake reči, razumevajući pun semantički smisao. Odabrali smo lakšu 'distilovanu' verziju jer nam je bilo važno da veb aplikacija radi brzo i bez ogromnih hardverskih resursa.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Dvoslojna arhitektura je naša ključna inovacija. Klasične neuronske mreže su 'crne kutije' – one kažu 'ovo je prevara sa 95% verovatnoće', ali korisnik ne zna ZAŠTO. Zato uvodimo LLM. On ne odlučuje o verovatnoći, jer su LLM modeli skloni halucinacijama i skupi su za klasifikaciju. DistilBERT donosi brzu i hladnu matematičku odluku, a ako je ona sumnjiva, LLM je 'prevodi' korisniku na srpski jezik u vidu konkretnih crvenih zastavica.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Pogledajmo konkretne brojeve. Kada uporedimo ova dva modela, vidimo ključnu razliku. DistilBERT je drastično podigao preciznost – sa 76% na čak 92,4%. U praksi to znači da smo broj lažnih uzbuna smanjili sa 48 na samo 12 primera! Za veb aplikaciju namenjenu ljudima to je ključno: niko ne želi aplikaciju koja svaki čas regularan oglas proglašava prevarom i tako unosi paniku.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Ovde dolazimo do važne inženjerske diskusije: preciznost ili odziv? Ako pravimo aplikaciju za običnog čoveka, biramo preciznost jer lažne uzbune odbijaju korisnike. Ako pravimo administrativni panel za Infostud, na primer, biramo visok odziv jer moderator želi da ručno proveri sve sumnjivo, pa mu lažna uzbuna manje smeta nego propuštena prevara koja može krivično ugroziti kandidate. U sistemu se to lako konfiguriše pomeranjem praga klasifikacije.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 kraj, osvrnimo se na ograničenja i planove za budućnost. Ako MVP radi odlično na engleskom jeziku, naš krajnji cilj je srpsko tržište. Za to su nam potrebni domaći modeli kao što je BERTić ili Embedić, kao i skreping oglasa sa platformi kao što su Infostud ili Lako do posla. Hvala vam na pažnji, sada smo spremni za vaša pitanja.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Rectangle 1"/>
          <p:cNvSpPr/>
          <p:nvPr/>
        </p:nvSpPr>
        <p:spPr>
          <a:xfrm>
            <a:off x="0" y="0"/>
            <a:ext cx="3474720" cy="6858000"/>
          </a:xfrm>
          <a:prstGeom prst="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548640"/>
            <a:ext cx="2743200" cy="5760720"/>
          </a:xfrm>
          <a:prstGeom prst="rect">
            <a:avLst/>
          </a:prstGeom>
          <a:noFill/>
        </p:spPr>
        <p:txBody>
          <a:bodyPr wrap="square">
            <a:spAutoFit/>
          </a:bodyPr>
          <a:lstStyle/>
          <a:p>
            <a:pPr>
              <a:defRPr sz="1300" b="1">
                <a:solidFill>
                  <a:srgbClr val="E25C50"/>
                </a:solidFill>
                <a:latin typeface="Arial"/>
              </a:defRPr>
            </a:pPr>
            <a:r>
              <a:t>UNIVERZITET U NIŠU</a:t>
            </a:r>
          </a:p>
          <a:p>
            <a:pPr>
              <a:spcAft>
                <a:spcPts val="2000"/>
              </a:spcAft>
              <a:defRPr sz="1100">
                <a:solidFill>
                  <a:srgbClr val="718096"/>
                </a:solidFill>
                <a:latin typeface="Arial"/>
              </a:defRPr>
            </a:pPr>
            <a:r>
              <a:t>Elektronski fakultet</a:t>
            </a:r>
            <a:br/>
            <a:r>
              <a:t>Katedra za računarsku tehniku</a:t>
            </a:r>
          </a:p>
          <a:p>
            <a:br/>
            <a:br/>
            <a:br/>
            <a:br/>
            <a:br/>
            <a:br/>
            <a:endParaRPr/>
          </a:p>
          <a:p>
            <a:pPr>
              <a:defRPr sz="1100" b="1">
                <a:solidFill>
                  <a:srgbClr val="718096"/>
                </a:solidFill>
                <a:latin typeface="Arial"/>
              </a:defRPr>
            </a:pPr>
            <a:r>
              <a:t>Kandidati:</a:t>
            </a:r>
          </a:p>
          <a:p>
            <a:pPr>
              <a:spcAft>
                <a:spcPts val="2000"/>
              </a:spcAft>
              <a:defRPr sz="1300" b="1">
                <a:solidFill>
                  <a:srgbClr val="FFFFFF"/>
                </a:solidFill>
                <a:latin typeface="Arial"/>
              </a:defRPr>
            </a:pPr>
            <a:r>
              <a:t>Iva Blagojević (2137)</a:t>
            </a:r>
            <a:br/>
            <a:r>
              <a:t>Ljiljana Stojičić (2136)</a:t>
            </a:r>
          </a:p>
          <a:p>
            <a:pPr>
              <a:defRPr sz="1100" b="1">
                <a:solidFill>
                  <a:srgbClr val="718096"/>
                </a:solidFill>
                <a:latin typeface="Arial"/>
              </a:defRPr>
            </a:pPr>
            <a:r>
              <a:t>Mentor:</a:t>
            </a:r>
          </a:p>
          <a:p>
            <a:pPr>
              <a:defRPr sz="1300" b="1">
                <a:solidFill>
                  <a:srgbClr val="FFFFFF"/>
                </a:solidFill>
                <a:latin typeface="Arial"/>
              </a:defRPr>
            </a:pPr>
            <a:r>
              <a:t>Prof. dr Leonid Stoimenov</a:t>
            </a:r>
          </a:p>
        </p:txBody>
      </p:sp>
      <p:sp>
        <p:nvSpPr>
          <p:cNvPr id="4" name="TextBox 3"/>
          <p:cNvSpPr txBox="1"/>
          <p:nvPr/>
        </p:nvSpPr>
        <p:spPr>
          <a:xfrm>
            <a:off x="4023360" y="2751891"/>
            <a:ext cx="7589520" cy="1354217"/>
          </a:xfrm>
          <a:prstGeom prst="rect">
            <a:avLst/>
          </a:prstGeom>
          <a:noFill/>
        </p:spPr>
        <p:txBody>
          <a:bodyPr wrap="square">
            <a:spAutoFit/>
          </a:bodyPr>
          <a:lstStyle/>
          <a:p>
            <a:pPr>
              <a:defRPr sz="5400" b="1">
                <a:solidFill>
                  <a:srgbClr val="E25C50"/>
                </a:solidFill>
                <a:latin typeface="Georgia"/>
              </a:defRPr>
            </a:pPr>
            <a:r>
              <a:rPr dirty="0" err="1"/>
              <a:t>FakeAd</a:t>
            </a:r>
            <a:endParaRPr dirty="0"/>
          </a:p>
          <a:p>
            <a:pPr>
              <a:spcAft>
                <a:spcPts val="1200"/>
              </a:spcAft>
              <a:defRPr sz="2800" b="1">
                <a:solidFill>
                  <a:srgbClr val="1A202C"/>
                </a:solidFill>
                <a:latin typeface="Georgia"/>
              </a:defRPr>
            </a:pPr>
            <a:r>
              <a:rPr dirty="0"/>
              <a:t>AI </a:t>
            </a:r>
            <a:r>
              <a:rPr dirty="0" err="1"/>
              <a:t>sistem</a:t>
            </a:r>
            <a:r>
              <a:rPr dirty="0"/>
              <a:t> za </a:t>
            </a:r>
            <a:r>
              <a:rPr dirty="0" err="1"/>
              <a:t>detekciju</a:t>
            </a:r>
            <a:r>
              <a:rPr dirty="0"/>
              <a:t> </a:t>
            </a:r>
            <a:r>
              <a:rPr dirty="0" err="1"/>
              <a:t>lažnih</a:t>
            </a:r>
            <a:r>
              <a:rPr dirty="0"/>
              <a:t> </a:t>
            </a:r>
            <a:r>
              <a:rPr dirty="0" err="1"/>
              <a:t>oglasa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Zloupotreba onlajn oglasa ugrožava bezbednost ličnih podataka i finansija kandidata</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0"/>
            <a:ext cx="5303520" cy="4114800"/>
          </a:xfrm>
          <a:prstGeom prst="rect">
            <a:avLst/>
          </a:prstGeom>
          <a:noFill/>
        </p:spPr>
        <p:txBody>
          <a:bodyPr wrap="square">
            <a:spAutoFit/>
          </a:bodyPr>
          <a:lstStyle/>
          <a:p>
            <a:pPr>
              <a:spcAft>
                <a:spcPts val="1400"/>
              </a:spcAft>
              <a:defRPr sz="2000" b="1">
                <a:solidFill>
                  <a:srgbClr val="319795"/>
                </a:solidFill>
                <a:latin typeface="Georgia"/>
              </a:defRPr>
            </a:pPr>
            <a:r>
              <a:t>Sveprisutan problem na tržištu rada</a:t>
            </a:r>
          </a:p>
          <a:p>
            <a:pPr>
              <a:spcAft>
                <a:spcPts val="1000"/>
              </a:spcAft>
            </a:pPr>
            <a:r>
              <a:rPr sz="1500">
                <a:solidFill>
                  <a:srgbClr val="1A202C"/>
                </a:solidFill>
                <a:latin typeface="Arial"/>
              </a:rPr>
              <a:t>• Onlajn oglasi su postali primarni kanal za povezivanje poslodavaca i kandidata širom sveta.</a:t>
            </a:r>
          </a:p>
          <a:p>
            <a:pPr>
              <a:spcAft>
                <a:spcPts val="1000"/>
              </a:spcAft>
            </a:pPr>
            <a:r>
              <a:rPr sz="1500">
                <a:solidFill>
                  <a:srgbClr val="1A202C"/>
                </a:solidFill>
                <a:latin typeface="Arial"/>
              </a:rPr>
              <a:t>• Sa rastom popularnosti platformi raste i zlonamerna zloupotreba kroz </a:t>
            </a:r>
            <a:r>
              <a:rPr sz="1500" b="1">
                <a:solidFill>
                  <a:srgbClr val="1A202C"/>
                </a:solidFill>
                <a:latin typeface="Arial"/>
              </a:rPr>
              <a:t>employment scams</a:t>
            </a:r>
            <a:r>
              <a:rPr sz="1500">
                <a:solidFill>
                  <a:srgbClr val="1A202C"/>
                </a:solidFill>
                <a:latin typeface="Arial"/>
              </a:rPr>
              <a:t>.</a:t>
            </a:r>
          </a:p>
          <a:p>
            <a:pPr>
              <a:spcAft>
                <a:spcPts val="1000"/>
              </a:spcAft>
            </a:pPr>
            <a:r>
              <a:rPr sz="1500">
                <a:solidFill>
                  <a:srgbClr val="1A202C"/>
                </a:solidFill>
                <a:latin typeface="Arial"/>
              </a:rPr>
              <a:t>• Prevaranti pažljivo imitiraju legitimne firme, što otežava prepoznavanje golim okom.</a:t>
            </a:r>
          </a:p>
        </p:txBody>
      </p:sp>
      <p:sp>
        <p:nvSpPr>
          <p:cNvPr id="5" name="TextBox 4"/>
          <p:cNvSpPr txBox="1"/>
          <p:nvPr/>
        </p:nvSpPr>
        <p:spPr>
          <a:xfrm>
            <a:off x="6309360" y="1828800"/>
            <a:ext cx="5303520" cy="4114800"/>
          </a:xfrm>
          <a:prstGeom prst="rect">
            <a:avLst/>
          </a:prstGeom>
          <a:noFill/>
        </p:spPr>
        <p:txBody>
          <a:bodyPr wrap="square">
            <a:spAutoFit/>
          </a:bodyPr>
          <a:lstStyle/>
          <a:p>
            <a:pPr>
              <a:spcAft>
                <a:spcPts val="1400"/>
              </a:spcAft>
              <a:defRPr sz="2000" b="1">
                <a:solidFill>
                  <a:srgbClr val="E25C50"/>
                </a:solidFill>
                <a:latin typeface="Georgia"/>
              </a:defRPr>
            </a:pPr>
            <a:r>
              <a:t>Značajne posledice i potreba za AI</a:t>
            </a:r>
          </a:p>
          <a:p>
            <a:pPr>
              <a:spcAft>
                <a:spcPts val="1000"/>
              </a:spcAft>
            </a:pPr>
            <a:r>
              <a:rPr sz="1500">
                <a:solidFill>
                  <a:srgbClr val="1A202C"/>
                </a:solidFill>
                <a:latin typeface="Arial"/>
              </a:rPr>
              <a:t>• Direktan cilj prevara jeste krađa novca, skeniranih ličnih dokumenata i podataka o bankovnim računima.</a:t>
            </a:r>
          </a:p>
          <a:p>
            <a:pPr>
              <a:spcAft>
                <a:spcPts val="1000"/>
              </a:spcAft>
            </a:pPr>
            <a:r>
              <a:rPr sz="1500">
                <a:solidFill>
                  <a:srgbClr val="1A202C"/>
                </a:solidFill>
                <a:latin typeface="Arial"/>
              </a:rPr>
              <a:t>• Žrtve snose ogromne finansijske i emocionalne posledice, uz narušavanje privatnosti.</a:t>
            </a:r>
          </a:p>
          <a:p>
            <a:pPr>
              <a:spcAft>
                <a:spcPts val="1000"/>
              </a:spcAft>
            </a:pPr>
            <a:r>
              <a:rPr sz="1500">
                <a:solidFill>
                  <a:srgbClr val="1A202C"/>
                </a:solidFill>
                <a:latin typeface="Arial"/>
              </a:rPr>
              <a:t>• Cilj projekta je razvoj inteligentnog </a:t>
            </a:r>
            <a:r>
              <a:rPr sz="1500" b="1">
                <a:solidFill>
                  <a:srgbClr val="1A202C"/>
                </a:solidFill>
                <a:latin typeface="Arial"/>
              </a:rPr>
              <a:t>MVP sistema</a:t>
            </a:r>
            <a:r>
              <a:rPr sz="1500">
                <a:solidFill>
                  <a:srgbClr val="1A202C"/>
                </a:solidFill>
                <a:latin typeface="Arial"/>
              </a:rPr>
              <a:t> koji brzo procenjuje rizik i pruža ljudski razumljivo obrazloženje.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EMSCAD skup sadrži 17.880 realnih oglasa sa bogatim skupom meta-podataka</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0"/>
            <a:ext cx="5303520" cy="4114800"/>
          </a:xfrm>
          <a:prstGeom prst="rect">
            <a:avLst/>
          </a:prstGeom>
          <a:noFill/>
        </p:spPr>
        <p:txBody>
          <a:bodyPr wrap="square">
            <a:spAutoFit/>
          </a:bodyPr>
          <a:lstStyle/>
          <a:p>
            <a:pPr>
              <a:spcAft>
                <a:spcPts val="1400"/>
              </a:spcAft>
              <a:defRPr sz="2000" b="1">
                <a:solidFill>
                  <a:srgbClr val="319795"/>
                </a:solidFill>
                <a:latin typeface="Georgia"/>
              </a:defRPr>
            </a:pPr>
            <a:r>
              <a:t>Karakteristike EMSCAD skupa podataka</a:t>
            </a:r>
          </a:p>
          <a:p>
            <a:pPr>
              <a:spcAft>
                <a:spcPts val="1000"/>
              </a:spcAft>
            </a:pPr>
            <a:r>
              <a:rPr sz="1500">
                <a:solidFill>
                  <a:srgbClr val="1A202C"/>
                </a:solidFill>
                <a:latin typeface="Arial"/>
              </a:rPr>
              <a:t>• Za razvoj modela korišćen je poznati </a:t>
            </a:r>
            <a:r>
              <a:rPr sz="1500" b="1">
                <a:solidFill>
                  <a:srgbClr val="1A202C"/>
                </a:solidFill>
                <a:latin typeface="Arial"/>
              </a:rPr>
              <a:t>Employment Scam Aegean Dataset</a:t>
            </a:r>
            <a:r>
              <a:rPr sz="1500">
                <a:solidFill>
                  <a:srgbClr val="1A202C"/>
                </a:solidFill>
                <a:latin typeface="Arial"/>
              </a:rPr>
              <a:t> (EMSCAD).</a:t>
            </a:r>
          </a:p>
          <a:p>
            <a:pPr>
              <a:spcAft>
                <a:spcPts val="1000"/>
              </a:spcAft>
            </a:pPr>
            <a:r>
              <a:rPr sz="1500">
                <a:solidFill>
                  <a:srgbClr val="1A202C"/>
                </a:solidFill>
                <a:latin typeface="Arial"/>
              </a:rPr>
              <a:t>• Skup se sastoji od ukupno </a:t>
            </a:r>
            <a:r>
              <a:rPr sz="1500" b="1">
                <a:solidFill>
                  <a:srgbClr val="1A202C"/>
                </a:solidFill>
                <a:latin typeface="Arial"/>
              </a:rPr>
              <a:t>17.880 jedinstvenih oglasa</a:t>
            </a:r>
            <a:r>
              <a:rPr sz="1500">
                <a:solidFill>
                  <a:srgbClr val="1A202C"/>
                </a:solidFill>
                <a:latin typeface="Arial"/>
              </a:rPr>
              <a:t> za posao koji potiču iz realnih izvora na internetu.</a:t>
            </a:r>
          </a:p>
          <a:p>
            <a:pPr>
              <a:spcAft>
                <a:spcPts val="1000"/>
              </a:spcAft>
            </a:pPr>
            <a:r>
              <a:rPr sz="1500">
                <a:solidFill>
                  <a:srgbClr val="1A202C"/>
                </a:solidFill>
                <a:latin typeface="Arial"/>
              </a:rPr>
              <a:t>• Oglasi su opisani sa ukupno </a:t>
            </a:r>
            <a:r>
              <a:rPr sz="1500" b="1">
                <a:solidFill>
                  <a:srgbClr val="1A202C"/>
                </a:solidFill>
                <a:latin typeface="Arial"/>
              </a:rPr>
              <a:t>18 atributa</a:t>
            </a:r>
            <a:r>
              <a:rPr sz="1500">
                <a:solidFill>
                  <a:srgbClr val="1A202C"/>
                </a:solidFill>
                <a:latin typeface="Arial"/>
              </a:rPr>
              <a:t>, koji predstavljaju spoj teksta i strukturisanih meta-podataka.</a:t>
            </a:r>
          </a:p>
        </p:txBody>
      </p:sp>
      <p:sp>
        <p:nvSpPr>
          <p:cNvPr id="5" name="Rounded Rectangle 4"/>
          <p:cNvSpPr/>
          <p:nvPr/>
        </p:nvSpPr>
        <p:spPr>
          <a:xfrm>
            <a:off x="6309360" y="1920240"/>
            <a:ext cx="5303520" cy="3931920"/>
          </a:xfrm>
          <a:prstGeom prst="roundRect">
            <a:avLst/>
          </a:prstGeom>
          <a:solidFill>
            <a:srgbClr val="EEEBE4"/>
          </a:solidFill>
          <a:ln>
            <a:solidFill>
              <a:srgbClr val="718096"/>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1300" b="1">
                <a:solidFill>
                  <a:srgbClr val="718096"/>
                </a:solidFill>
                <a:latin typeface="Arial"/>
              </a:defRPr>
            </a:pPr>
            <a:r>
              <a:t>STRUKTURA ATRIBUTA (18 ukupno)</a:t>
            </a:r>
          </a:p>
          <a:p>
            <a:pPr>
              <a:defRPr sz="1400" b="1">
                <a:solidFill>
                  <a:srgbClr val="1A202C"/>
                </a:solidFill>
                <a:latin typeface="Arial"/>
              </a:defRPr>
            </a:pPr>
            <a:r>
              <a:t>✔ Tekstualna polja (NLP modeli):</a:t>
            </a:r>
          </a:p>
          <a:p>
            <a:pPr>
              <a:spcAft>
                <a:spcPts val="800"/>
              </a:spcAft>
              <a:defRPr sz="1300">
                <a:solidFill>
                  <a:srgbClr val="718096"/>
                </a:solidFill>
                <a:latin typeface="Arial"/>
              </a:defRPr>
            </a:pPr>
            <a:r>
              <a:t>Naslov oglasa, opis kompanije, detaljan opis posla, specifični zahtevi i beneficije.</a:t>
            </a:r>
          </a:p>
          <a:p>
            <a:pPr>
              <a:defRPr sz="1400" b="1">
                <a:solidFill>
                  <a:srgbClr val="1A202C"/>
                </a:solidFill>
                <a:latin typeface="Arial"/>
              </a:defRPr>
            </a:pPr>
            <a:r>
              <a:t>✔ Strukturisani atributi (Meta-podaci):</a:t>
            </a:r>
          </a:p>
          <a:p>
            <a:pPr>
              <a:spcAft>
                <a:spcPts val="800"/>
              </a:spcAft>
              <a:defRPr sz="1300">
                <a:solidFill>
                  <a:srgbClr val="718096"/>
                </a:solidFill>
                <a:latin typeface="Arial"/>
              </a:defRPr>
            </a:pPr>
            <a:r>
              <a:t>Rad na daljinu (telecommuting), prisustvo logotipa kompanije, tip zaposlenja, stručna sprema i industrija.</a:t>
            </a:r>
          </a:p>
          <a:p>
            <a:pPr>
              <a:defRPr sz="1400" b="1">
                <a:solidFill>
                  <a:srgbClr val="1A202C"/>
                </a:solidFill>
                <a:latin typeface="Arial"/>
              </a:defRPr>
            </a:pPr>
            <a:r>
              <a:t>✔ Ciljna promenljiva:</a:t>
            </a:r>
          </a:p>
          <a:p>
            <a:pPr>
              <a:spcAft>
                <a:spcPts val="800"/>
              </a:spcAft>
              <a:defRPr sz="1300">
                <a:solidFill>
                  <a:srgbClr val="718096"/>
                </a:solidFill>
                <a:latin typeface="Arial"/>
              </a:defRPr>
            </a:pPr>
            <a:r>
              <a:t>Binarni atribut (1 - lažan oglas, 0 - legitiman oglas).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Svega 4,84% lažnih oglasa u skupu čini standardnu tačnost beskorisnom</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920240"/>
            <a:ext cx="4389120" cy="3931920"/>
          </a:xfrm>
          <a:prstGeom prst="round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wrap="square" tIns="548640" rtlCol="0" anchor="ctr"/>
          <a:lstStyle/>
          <a:p>
            <a:pPr algn="ctr">
              <a:defRPr sz="7200" b="1">
                <a:solidFill>
                  <a:srgbClr val="E25C50"/>
                </a:solidFill>
                <a:latin typeface="Georgia"/>
              </a:defRPr>
            </a:pPr>
            <a:r>
              <a:t>4.84%</a:t>
            </a:r>
          </a:p>
          <a:p>
            <a:pPr algn="ctr">
              <a:defRPr sz="1600">
                <a:solidFill>
                  <a:srgbClr val="FFFFFF"/>
                </a:solidFill>
                <a:latin typeface="Arial"/>
              </a:defRPr>
            </a:pPr>
            <a:r>
              <a:t>Udeo lažnih oglasa u skupu</a:t>
            </a:r>
            <a:br/>
            <a:r>
              <a:t>(svega 866 od 17.880)</a:t>
            </a:r>
          </a:p>
        </p:txBody>
      </p:sp>
      <p:sp>
        <p:nvSpPr>
          <p:cNvPr id="5" name="TextBox 4"/>
          <p:cNvSpPr txBox="1"/>
          <p:nvPr/>
        </p:nvSpPr>
        <p:spPr>
          <a:xfrm>
            <a:off x="5303520" y="1920240"/>
            <a:ext cx="6309360" cy="3931920"/>
          </a:xfrm>
          <a:prstGeom prst="rect">
            <a:avLst/>
          </a:prstGeom>
          <a:noFill/>
        </p:spPr>
        <p:txBody>
          <a:bodyPr wrap="square">
            <a:spAutoFit/>
          </a:bodyPr>
          <a:lstStyle/>
          <a:p>
            <a:pPr>
              <a:spcAft>
                <a:spcPts val="1400"/>
              </a:spcAft>
              <a:defRPr sz="2200" b="1">
                <a:solidFill>
                  <a:srgbClr val="319795"/>
                </a:solidFill>
                <a:latin typeface="Georgia"/>
              </a:defRPr>
            </a:pPr>
            <a:r>
              <a:t>Zašto je neravnoteža klasa kritičan izazov?</a:t>
            </a:r>
          </a:p>
          <a:p>
            <a:pPr>
              <a:spcAft>
                <a:spcPts val="800"/>
              </a:spcAft>
            </a:pPr>
            <a:r>
              <a:rPr sz="1400">
                <a:solidFill>
                  <a:srgbClr val="1A202C"/>
                </a:solidFill>
                <a:latin typeface="Arial"/>
              </a:rPr>
              <a:t>• </a:t>
            </a:r>
            <a:r>
              <a:rPr sz="1400" b="1">
                <a:solidFill>
                  <a:srgbClr val="1A202C"/>
                </a:solidFill>
                <a:latin typeface="Arial"/>
              </a:rPr>
              <a:t>Zamka visoke tačnosti</a:t>
            </a:r>
            <a:r>
              <a:rPr sz="1400">
                <a:solidFill>
                  <a:srgbClr val="1A202C"/>
                </a:solidFill>
                <a:latin typeface="Arial"/>
              </a:rPr>
              <a:t>: Naivan model koji bi sve oglase klasifikovao kao 'prave' postigao bi tačnost od </a:t>
            </a:r>
            <a:r>
              <a:rPr sz="1400" b="1">
                <a:solidFill>
                  <a:srgbClr val="1A202C"/>
                </a:solidFill>
                <a:latin typeface="Arial"/>
              </a:rPr>
              <a:t>95.16%</a:t>
            </a:r>
            <a:r>
              <a:rPr sz="1400">
                <a:solidFill>
                  <a:srgbClr val="1A202C"/>
                </a:solidFill>
                <a:latin typeface="Arial"/>
              </a:rPr>
              <a:t>, ali bi bio potpuno nesposoban da pronađe ijednu prevaru.</a:t>
            </a:r>
          </a:p>
          <a:p>
            <a:pPr>
              <a:spcAft>
                <a:spcPts val="800"/>
              </a:spcAft>
            </a:pPr>
            <a:r>
              <a:rPr sz="1400">
                <a:solidFill>
                  <a:srgbClr val="1A202C"/>
                </a:solidFill>
                <a:latin typeface="Arial"/>
              </a:rPr>
              <a:t>• </a:t>
            </a:r>
            <a:r>
              <a:rPr sz="1400" b="1">
                <a:solidFill>
                  <a:srgbClr val="1A202C"/>
                </a:solidFill>
                <a:latin typeface="Arial"/>
              </a:rPr>
              <a:t>Posledica po učenje</a:t>
            </a:r>
            <a:r>
              <a:rPr sz="1400">
                <a:solidFill>
                  <a:srgbClr val="1A202C"/>
                </a:solidFill>
                <a:latin typeface="Arial"/>
              </a:rPr>
              <a:t>: Standardni algoritmi teže da maksimizuju ukupnu tačnost, čime ignorišu retku, ali ključnu klasu lažnih oglasa.</a:t>
            </a:r>
          </a:p>
          <a:p>
            <a:pPr>
              <a:spcAft>
                <a:spcPts val="800"/>
              </a:spcAft>
            </a:pPr>
            <a:r>
              <a:rPr sz="1400">
                <a:solidFill>
                  <a:srgbClr val="1A202C"/>
                </a:solidFill>
                <a:latin typeface="Arial"/>
              </a:rPr>
              <a:t>• </a:t>
            </a:r>
            <a:r>
              <a:rPr sz="1400" b="1">
                <a:solidFill>
                  <a:srgbClr val="1A202C"/>
                </a:solidFill>
                <a:latin typeface="Arial"/>
              </a:rPr>
              <a:t>Strategija rešavanja</a:t>
            </a:r>
            <a:r>
              <a:rPr sz="1400">
                <a:solidFill>
                  <a:srgbClr val="1A202C"/>
                </a:solidFill>
                <a:latin typeface="Arial"/>
              </a:rPr>
              <a:t>: Tokom treniranja koristimo izmenjene funkcije gubitka (</a:t>
            </a:r>
            <a:r>
              <a:rPr sz="1400" b="1">
                <a:solidFill>
                  <a:srgbClr val="1A202C"/>
                </a:solidFill>
                <a:latin typeface="Arial"/>
              </a:rPr>
              <a:t>weighted cross-entropy</a:t>
            </a:r>
            <a:r>
              <a:rPr sz="1400">
                <a:solidFill>
                  <a:srgbClr val="1A202C"/>
                </a:solidFill>
                <a:latin typeface="Arial"/>
              </a:rPr>
              <a:t> za DistilBERT i ponderisane težine za LogReg) kako bismo greške na lažnoj klasi kaznili znatno strože.</a:t>
            </a:r>
          </a:p>
          <a:p>
            <a:pPr>
              <a:spcAft>
                <a:spcPts val="800"/>
              </a:spcAft>
            </a:pPr>
            <a:r>
              <a:rPr sz="1400">
                <a:solidFill>
                  <a:srgbClr val="1A202C"/>
                </a:solidFill>
                <a:latin typeface="Arial"/>
              </a:rPr>
              <a:t>• </a:t>
            </a:r>
            <a:r>
              <a:rPr sz="1400" b="1">
                <a:solidFill>
                  <a:srgbClr val="1A202C"/>
                </a:solidFill>
                <a:latin typeface="Arial"/>
              </a:rPr>
              <a:t>Izbor metrika</a:t>
            </a:r>
            <a:r>
              <a:rPr sz="1400">
                <a:solidFill>
                  <a:srgbClr val="1A202C"/>
                </a:solidFill>
                <a:latin typeface="Arial"/>
              </a:rPr>
              <a:t>: Umesto tačnosti, fokusiramo se na </a:t>
            </a:r>
            <a:r>
              <a:rPr sz="1400" b="1">
                <a:solidFill>
                  <a:srgbClr val="1A202C"/>
                </a:solidFill>
                <a:latin typeface="Arial"/>
              </a:rPr>
              <a:t>preciznost</a:t>
            </a:r>
            <a:r>
              <a:rPr sz="1400">
                <a:solidFill>
                  <a:srgbClr val="1A202C"/>
                </a:solidFill>
                <a:latin typeface="Arial"/>
              </a:rPr>
              <a:t>, </a:t>
            </a:r>
            <a:r>
              <a:rPr sz="1400" b="1">
                <a:solidFill>
                  <a:srgbClr val="1A202C"/>
                </a:solidFill>
                <a:latin typeface="Arial"/>
              </a:rPr>
              <a:t>odziv (recall)</a:t>
            </a:r>
            <a:r>
              <a:rPr sz="1400">
                <a:solidFill>
                  <a:srgbClr val="1A202C"/>
                </a:solidFill>
                <a:latin typeface="Arial"/>
              </a:rPr>
              <a:t>, </a:t>
            </a:r>
            <a:r>
              <a:rPr sz="1400" b="1">
                <a:solidFill>
                  <a:srgbClr val="1A202C"/>
                </a:solidFill>
                <a:latin typeface="Arial"/>
              </a:rPr>
              <a:t>F1-meru</a:t>
            </a:r>
            <a:r>
              <a:rPr sz="1400">
                <a:solidFill>
                  <a:srgbClr val="1A202C"/>
                </a:solidFill>
                <a:latin typeface="Arial"/>
              </a:rPr>
              <a:t> i </a:t>
            </a:r>
            <a:r>
              <a:rPr sz="1400" b="1">
                <a:solidFill>
                  <a:srgbClr val="1A202C"/>
                </a:solidFill>
                <a:latin typeface="Arial"/>
              </a:rPr>
              <a:t>PR-AUC</a:t>
            </a:r>
            <a:r>
              <a:rPr sz="1400">
                <a:solidFill>
                  <a:srgbClr val="1A202C"/>
                </a:solidFill>
                <a:latin typeface="Aria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Pretprocesiranje normalizuje tekst i spaja pet polja u jedinstven ulaz</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2011680"/>
            <a:ext cx="2560320" cy="3657600"/>
          </a:xfrm>
          <a:prstGeom prst="roundRect">
            <a:avLst/>
          </a:prstGeom>
          <a:solidFill>
            <a:srgbClr val="FAF9F6"/>
          </a:solidFill>
          <a:ln w="25400">
            <a:solidFill>
              <a:srgbClr val="319795"/>
            </a:solidFill>
          </a:ln>
        </p:spPr>
        <p:style>
          <a:lnRef idx="1">
            <a:schemeClr val="accent1"/>
          </a:lnRef>
          <a:fillRef idx="3">
            <a:schemeClr val="accent1"/>
          </a:fillRef>
          <a:effectRef idx="2">
            <a:schemeClr val="accent1"/>
          </a:effectRef>
          <a:fontRef idx="minor">
            <a:schemeClr val="lt1"/>
          </a:fontRef>
        </p:style>
        <p:txBody>
          <a:bodyPr wrap="square" lIns="228600" tIns="365760" rIns="228600" rtlCol="0" anchor="ctr"/>
          <a:lstStyle/>
          <a:p>
            <a:pPr algn="ctr">
              <a:spcAft>
                <a:spcPts val="1400"/>
              </a:spcAft>
              <a:defRPr sz="1800" b="1">
                <a:solidFill>
                  <a:srgbClr val="319795"/>
                </a:solidFill>
                <a:latin typeface="Georgia"/>
              </a:defRPr>
            </a:pPr>
            <a:r>
              <a:t>1. Čišćenje HTML-a</a:t>
            </a:r>
          </a:p>
          <a:p>
            <a:pPr>
              <a:spcAft>
                <a:spcPts val="800"/>
              </a:spcAft>
            </a:pPr>
            <a:r>
              <a:rPr sz="1300">
                <a:solidFill>
                  <a:srgbClr val="1A202C"/>
                </a:solidFill>
                <a:latin typeface="Arial"/>
              </a:rPr>
              <a:t>Uklanjanje svih HTML oznaka i normalizacija razmaka radi dobijanja čistog teksta bez šuma.</a:t>
            </a:r>
          </a:p>
        </p:txBody>
      </p:sp>
      <p:sp>
        <p:nvSpPr>
          <p:cNvPr id="5" name="Rounded Rectangle 4"/>
          <p:cNvSpPr/>
          <p:nvPr/>
        </p:nvSpPr>
        <p:spPr>
          <a:xfrm>
            <a:off x="3337560" y="2011680"/>
            <a:ext cx="2560320" cy="3657600"/>
          </a:xfrm>
          <a:prstGeom prst="roundRect">
            <a:avLst/>
          </a:prstGeom>
          <a:solidFill>
            <a:srgbClr val="FAF9F6"/>
          </a:solidFill>
          <a:ln w="25400">
            <a:solidFill>
              <a:srgbClr val="1A202C"/>
            </a:solidFill>
          </a:ln>
        </p:spPr>
        <p:style>
          <a:lnRef idx="1">
            <a:schemeClr val="accent1"/>
          </a:lnRef>
          <a:fillRef idx="3">
            <a:schemeClr val="accent1"/>
          </a:fillRef>
          <a:effectRef idx="2">
            <a:schemeClr val="accent1"/>
          </a:effectRef>
          <a:fontRef idx="minor">
            <a:schemeClr val="lt1"/>
          </a:fontRef>
        </p:style>
        <p:txBody>
          <a:bodyPr wrap="square" lIns="228600" tIns="365760" rIns="228600" rtlCol="0" anchor="ctr"/>
          <a:lstStyle/>
          <a:p>
            <a:pPr algn="ctr">
              <a:spcAft>
                <a:spcPts val="1400"/>
              </a:spcAft>
              <a:defRPr sz="1800" b="1">
                <a:solidFill>
                  <a:srgbClr val="1A202C"/>
                </a:solidFill>
                <a:latin typeface="Georgia"/>
              </a:defRPr>
            </a:pPr>
            <a:r>
              <a:t>2. Spajanje polja</a:t>
            </a:r>
          </a:p>
          <a:p>
            <a:pPr>
              <a:spcAft>
                <a:spcPts val="800"/>
              </a:spcAft>
            </a:pPr>
            <a:r>
              <a:rPr sz="1300">
                <a:solidFill>
                  <a:srgbClr val="1A202C"/>
                </a:solidFill>
                <a:latin typeface="Arial"/>
              </a:rPr>
              <a:t>Spajanje naslova, opisa kompanije, opisa posla, zahteva i beneficija u jedno tekstualno polje.</a:t>
            </a:r>
          </a:p>
        </p:txBody>
      </p:sp>
      <p:sp>
        <p:nvSpPr>
          <p:cNvPr id="6" name="Rounded Rectangle 5"/>
          <p:cNvSpPr/>
          <p:nvPr/>
        </p:nvSpPr>
        <p:spPr>
          <a:xfrm>
            <a:off x="6126480" y="2011680"/>
            <a:ext cx="2560320" cy="3657600"/>
          </a:xfrm>
          <a:prstGeom prst="roundRect">
            <a:avLst/>
          </a:prstGeom>
          <a:solidFill>
            <a:srgbClr val="FAF9F6"/>
          </a:solidFill>
          <a:ln w="25400">
            <a:solidFill>
              <a:srgbClr val="E25C50"/>
            </a:solidFill>
          </a:ln>
        </p:spPr>
        <p:style>
          <a:lnRef idx="1">
            <a:schemeClr val="accent1"/>
          </a:lnRef>
          <a:fillRef idx="3">
            <a:schemeClr val="accent1"/>
          </a:fillRef>
          <a:effectRef idx="2">
            <a:schemeClr val="accent1"/>
          </a:effectRef>
          <a:fontRef idx="minor">
            <a:schemeClr val="lt1"/>
          </a:fontRef>
        </p:style>
        <p:txBody>
          <a:bodyPr wrap="square" lIns="228600" tIns="365760" rIns="228600" rtlCol="0" anchor="ctr"/>
          <a:lstStyle/>
          <a:p>
            <a:pPr algn="ctr">
              <a:spcAft>
                <a:spcPts val="1400"/>
              </a:spcAft>
              <a:defRPr sz="1800" b="1">
                <a:solidFill>
                  <a:srgbClr val="E25C50"/>
                </a:solidFill>
                <a:latin typeface="Georgia"/>
              </a:defRPr>
            </a:pPr>
            <a:r>
              <a:t>3. Numeričko kodiranje</a:t>
            </a:r>
          </a:p>
          <a:p>
            <a:pPr>
              <a:spcAft>
                <a:spcPts val="800"/>
              </a:spcAft>
            </a:pPr>
            <a:r>
              <a:rPr sz="1300">
                <a:solidFill>
                  <a:srgbClr val="1A202C"/>
                </a:solidFill>
                <a:latin typeface="Arial"/>
              </a:rPr>
              <a:t>Mapiranje ciljne promenljive iz slovnog u binarni format (1 - lažan oglas, 0 - legitiman oglas).</a:t>
            </a:r>
          </a:p>
        </p:txBody>
      </p:sp>
      <p:sp>
        <p:nvSpPr>
          <p:cNvPr id="7" name="Rounded Rectangle 6"/>
          <p:cNvSpPr/>
          <p:nvPr/>
        </p:nvSpPr>
        <p:spPr>
          <a:xfrm>
            <a:off x="8915400" y="2011680"/>
            <a:ext cx="2560320" cy="3657600"/>
          </a:xfrm>
          <a:prstGeom prst="roundRect">
            <a:avLst/>
          </a:prstGeom>
          <a:solidFill>
            <a:srgbClr val="FAF9F6"/>
          </a:solidFill>
          <a:ln w="25400">
            <a:solidFill>
              <a:srgbClr val="718096"/>
            </a:solidFill>
          </a:ln>
        </p:spPr>
        <p:style>
          <a:lnRef idx="1">
            <a:schemeClr val="accent1"/>
          </a:lnRef>
          <a:fillRef idx="3">
            <a:schemeClr val="accent1"/>
          </a:fillRef>
          <a:effectRef idx="2">
            <a:schemeClr val="accent1"/>
          </a:effectRef>
          <a:fontRef idx="minor">
            <a:schemeClr val="lt1"/>
          </a:fontRef>
        </p:style>
        <p:txBody>
          <a:bodyPr wrap="square" lIns="228600" tIns="365760" rIns="228600" rtlCol="0" anchor="ctr"/>
          <a:lstStyle/>
          <a:p>
            <a:pPr algn="ctr">
              <a:spcAft>
                <a:spcPts val="1400"/>
              </a:spcAft>
              <a:defRPr sz="1800" b="1">
                <a:solidFill>
                  <a:srgbClr val="718096"/>
                </a:solidFill>
                <a:latin typeface="Georgia"/>
              </a:defRPr>
            </a:pPr>
            <a:r>
              <a:t>4. Stratifikacija</a:t>
            </a:r>
          </a:p>
          <a:p>
            <a:pPr>
              <a:spcAft>
                <a:spcPts val="800"/>
              </a:spcAft>
            </a:pPr>
            <a:r>
              <a:rPr sz="1300">
                <a:solidFill>
                  <a:srgbClr val="1A202C"/>
                </a:solidFill>
                <a:latin typeface="Arial"/>
              </a:rPr>
              <a:t>Podela na trening i test skup (80:20) uz striktno očuvanje odnosa klasa u oba podskupa.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Jednostavni tekstualni i strukturni obrasci nose snažne signale prevare</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920240"/>
            <a:ext cx="5303520" cy="3931920"/>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2000" b="1">
                <a:solidFill>
                  <a:srgbClr val="319795"/>
                </a:solidFill>
                <a:latin typeface="Georgia"/>
              </a:defRPr>
            </a:pPr>
            <a:r>
              <a:t>Dužina oglasa kao indikator</a:t>
            </a:r>
          </a:p>
          <a:p>
            <a:pPr>
              <a:spcAft>
                <a:spcPts val="1000"/>
              </a:spcAft>
            </a:pPr>
            <a:r>
              <a:rPr sz="1400">
                <a:solidFill>
                  <a:srgbClr val="1A202C"/>
                </a:solidFill>
                <a:latin typeface="Arial"/>
              </a:rPr>
              <a:t>• </a:t>
            </a:r>
            <a:r>
              <a:rPr sz="1400" b="1">
                <a:solidFill>
                  <a:srgbClr val="1A202C"/>
                </a:solidFill>
                <a:latin typeface="Arial"/>
              </a:rPr>
              <a:t>Razlika u dužini</a:t>
            </a:r>
            <a:r>
              <a:rPr sz="1400">
                <a:solidFill>
                  <a:srgbClr val="1A202C"/>
                </a:solidFill>
                <a:latin typeface="Arial"/>
              </a:rPr>
              <a:t>: Lažni oglasi su u proseku znatno kraći (</a:t>
            </a:r>
            <a:r>
              <a:rPr sz="1400" b="1">
                <a:solidFill>
                  <a:srgbClr val="1A202C"/>
                </a:solidFill>
                <a:latin typeface="Arial"/>
              </a:rPr>
              <a:t>2.081 karaktera</a:t>
            </a:r>
            <a:r>
              <a:rPr sz="1400">
                <a:solidFill>
                  <a:srgbClr val="1A202C"/>
                </a:solidFill>
                <a:latin typeface="Arial"/>
              </a:rPr>
              <a:t>) od legitimnih oglasa (</a:t>
            </a:r>
            <a:r>
              <a:rPr sz="1400" b="1">
                <a:solidFill>
                  <a:srgbClr val="1A202C"/>
                </a:solidFill>
                <a:latin typeface="Arial"/>
              </a:rPr>
              <a:t>2.703 karaktera</a:t>
            </a:r>
            <a:r>
              <a:rPr sz="1400">
                <a:solidFill>
                  <a:srgbClr val="1A202C"/>
                </a:solidFill>
                <a:latin typeface="Arial"/>
              </a:rPr>
              <a:t>).</a:t>
            </a:r>
          </a:p>
          <a:p>
            <a:pPr>
              <a:spcAft>
                <a:spcPts val="1000"/>
              </a:spcAft>
            </a:pPr>
            <a:r>
              <a:rPr sz="1400">
                <a:solidFill>
                  <a:srgbClr val="1A202C"/>
                </a:solidFill>
                <a:latin typeface="Arial"/>
              </a:rPr>
              <a:t>• </a:t>
            </a:r>
            <a:r>
              <a:rPr sz="1400" b="1">
                <a:solidFill>
                  <a:srgbClr val="1A202C"/>
                </a:solidFill>
                <a:latin typeface="Arial"/>
              </a:rPr>
              <a:t>Intuicija prevare</a:t>
            </a:r>
            <a:r>
              <a:rPr sz="1400">
                <a:solidFill>
                  <a:srgbClr val="1A202C"/>
                </a:solidFill>
                <a:latin typeface="Arial"/>
              </a:rPr>
              <a:t>: Autori lažnih oglasa obično ne ulažu napor u detaljno opisivanje uloga, već kreiraju šture, uopštene tekstove sa ciljem da privuku što širu publiku.</a:t>
            </a:r>
          </a:p>
          <a:p>
            <a:pPr>
              <a:spcAft>
                <a:spcPts val="1000"/>
              </a:spcAft>
            </a:pPr>
            <a:r>
              <a:rPr sz="1400">
                <a:solidFill>
                  <a:srgbClr val="1A202C"/>
                </a:solidFill>
                <a:latin typeface="Arial"/>
              </a:rPr>
              <a:t>• </a:t>
            </a:r>
            <a:r>
              <a:rPr sz="1400" b="1">
                <a:solidFill>
                  <a:srgbClr val="1A202C"/>
                </a:solidFill>
                <a:latin typeface="Arial"/>
              </a:rPr>
              <a:t>Primena u AI</a:t>
            </a:r>
            <a:r>
              <a:rPr sz="1400">
                <a:solidFill>
                  <a:srgbClr val="1A202C"/>
                </a:solidFill>
                <a:latin typeface="Arial"/>
              </a:rPr>
              <a:t>: Ova razlika u statistici dužine teksta predstavlja rani, ali stabilan signal za modele klasifikacije.</a:t>
            </a:r>
          </a:p>
        </p:txBody>
      </p:sp>
      <p:sp>
        <p:nvSpPr>
          <p:cNvPr id="5" name="Rounded Rectangle 4"/>
          <p:cNvSpPr/>
          <p:nvPr/>
        </p:nvSpPr>
        <p:spPr>
          <a:xfrm>
            <a:off x="6309360" y="1920240"/>
            <a:ext cx="5303520" cy="3931920"/>
          </a:xfrm>
          <a:prstGeom prst="roundRect">
            <a:avLst/>
          </a:prstGeom>
          <a:solidFill>
            <a:srgbClr val="EEEBE4"/>
          </a:solidFill>
          <a:ln>
            <a:no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2000" b="1">
                <a:solidFill>
                  <a:srgbClr val="E25C50"/>
                </a:solidFill>
                <a:latin typeface="Georgia"/>
              </a:defRPr>
            </a:pPr>
            <a:r>
              <a:t>Nedostatak polja u oglasu</a:t>
            </a:r>
          </a:p>
          <a:p>
            <a:pPr>
              <a:spcAft>
                <a:spcPts val="1000"/>
              </a:spcAft>
            </a:pPr>
            <a:r>
              <a:rPr sz="1400">
                <a:solidFill>
                  <a:srgbClr val="1A202C"/>
                </a:solidFill>
                <a:latin typeface="Arial"/>
              </a:rPr>
              <a:t>• </a:t>
            </a:r>
            <a:r>
              <a:rPr sz="1400" b="1">
                <a:solidFill>
                  <a:srgbClr val="1A202C"/>
                </a:solidFill>
                <a:latin typeface="Arial"/>
              </a:rPr>
              <a:t>Odsustvo ključnih informacija</a:t>
            </a:r>
            <a:r>
              <a:rPr sz="1400">
                <a:solidFill>
                  <a:srgbClr val="1A202C"/>
                </a:solidFill>
                <a:latin typeface="Arial"/>
              </a:rPr>
              <a:t>: Analiza je pokazala da u lažnim oglasima drastično češće nedostaju ključna polja poput opisa kompanije (*company_profile*) ili beneficija.</a:t>
            </a:r>
          </a:p>
          <a:p>
            <a:pPr>
              <a:spcAft>
                <a:spcPts val="1000"/>
              </a:spcAft>
            </a:pPr>
            <a:r>
              <a:rPr sz="1400">
                <a:solidFill>
                  <a:srgbClr val="1A202C"/>
                </a:solidFill>
                <a:latin typeface="Arial"/>
              </a:rPr>
              <a:t>• </a:t>
            </a:r>
            <a:r>
              <a:rPr sz="1400" b="1">
                <a:solidFill>
                  <a:srgbClr val="1A202C"/>
                </a:solidFill>
                <a:latin typeface="Arial"/>
              </a:rPr>
              <a:t>Primeri</a:t>
            </a:r>
            <a:r>
              <a:rPr sz="1400">
                <a:solidFill>
                  <a:srgbClr val="1A202C"/>
                </a:solidFill>
                <a:latin typeface="Arial"/>
              </a:rPr>
              <a:t>: Dok pravi poslodavci žele da predstave beneficije, prevaranti nude nepostojeće pozicije i ignorišu ta polja ili ih ostavljaju praznim.</a:t>
            </a:r>
          </a:p>
          <a:p>
            <a:pPr>
              <a:spcAft>
                <a:spcPts val="1000"/>
              </a:spcAft>
            </a:pPr>
            <a:r>
              <a:rPr sz="1400">
                <a:solidFill>
                  <a:srgbClr val="1A202C"/>
                </a:solidFill>
                <a:latin typeface="Arial"/>
              </a:rPr>
              <a:t>• </a:t>
            </a:r>
            <a:r>
              <a:rPr sz="1400" b="1">
                <a:solidFill>
                  <a:srgbClr val="1A202C"/>
                </a:solidFill>
                <a:latin typeface="Arial"/>
              </a:rPr>
              <a:t>Interpretabilni uvidi</a:t>
            </a:r>
            <a:r>
              <a:rPr sz="1400">
                <a:solidFill>
                  <a:srgbClr val="1A202C"/>
                </a:solidFill>
                <a:latin typeface="Arial"/>
              </a:rPr>
              <a:t>: Koeficijenti našeg klasičnog logističkog modela jasno rangiraju specifične reči i strukturne praznine kao indikatore visokog rizika.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TF-IDF i Logistička regresija uspostavljaju interpretabilnu polaznu tačku</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0"/>
            <a:ext cx="5303520" cy="4114800"/>
          </a:xfrm>
          <a:prstGeom prst="rect">
            <a:avLst/>
          </a:prstGeom>
          <a:noFill/>
        </p:spPr>
        <p:txBody>
          <a:bodyPr wrap="square">
            <a:spAutoFit/>
          </a:bodyPr>
          <a:lstStyle/>
          <a:p>
            <a:pPr>
              <a:spcAft>
                <a:spcPts val="1400"/>
              </a:spcAft>
              <a:defRPr sz="2000" b="1">
                <a:solidFill>
                  <a:srgbClr val="319795"/>
                </a:solidFill>
                <a:latin typeface="Georgia"/>
              </a:defRPr>
            </a:pPr>
            <a:r>
              <a:t>Metodologija referentnog modela</a:t>
            </a:r>
          </a:p>
          <a:p>
            <a:pPr>
              <a:spcAft>
                <a:spcPts val="1000"/>
              </a:spcAft>
            </a:pPr>
            <a:r>
              <a:rPr sz="1400">
                <a:solidFill>
                  <a:srgbClr val="1A202C"/>
                </a:solidFill>
                <a:latin typeface="Arial"/>
              </a:rPr>
              <a:t>• </a:t>
            </a:r>
            <a:r>
              <a:rPr sz="1400" b="1">
                <a:solidFill>
                  <a:srgbClr val="1A202C"/>
                </a:solidFill>
                <a:latin typeface="Arial"/>
              </a:rPr>
              <a:t>Vektorizacija teksta</a:t>
            </a:r>
            <a:r>
              <a:rPr sz="1400">
                <a:solidFill>
                  <a:srgbClr val="1A202C"/>
                </a:solidFill>
                <a:latin typeface="Arial"/>
              </a:rPr>
              <a:t>: Korišćen je </a:t>
            </a:r>
            <a:r>
              <a:rPr sz="1400" b="1">
                <a:solidFill>
                  <a:srgbClr val="1A202C"/>
                </a:solidFill>
                <a:latin typeface="Arial"/>
              </a:rPr>
              <a:t>TF-IDF</a:t>
            </a:r>
            <a:r>
              <a:rPr sz="1400">
                <a:solidFill>
                  <a:srgbClr val="1A202C"/>
                </a:solidFill>
                <a:latin typeface="Arial"/>
              </a:rPr>
              <a:t> metod (Term Frequency-Inverse Document Frequency) sa unigramima i bigramima.</a:t>
            </a:r>
          </a:p>
          <a:p>
            <a:pPr>
              <a:spcAft>
                <a:spcPts val="1000"/>
              </a:spcAft>
            </a:pPr>
            <a:r>
              <a:rPr sz="1400">
                <a:solidFill>
                  <a:srgbClr val="1A202C"/>
                </a:solidFill>
                <a:latin typeface="Arial"/>
              </a:rPr>
              <a:t>• </a:t>
            </a:r>
            <a:r>
              <a:rPr sz="1400" b="1">
                <a:solidFill>
                  <a:srgbClr val="1A202C"/>
                </a:solidFill>
                <a:latin typeface="Arial"/>
              </a:rPr>
              <a:t>Ograničenja rečnika</a:t>
            </a:r>
            <a:r>
              <a:rPr sz="1400">
                <a:solidFill>
                  <a:srgbClr val="1A202C"/>
                </a:solidFill>
                <a:latin typeface="Arial"/>
              </a:rPr>
              <a:t>: Maksimalni broj obeležja postavljen je na </a:t>
            </a:r>
            <a:r>
              <a:rPr sz="1400" b="1">
                <a:solidFill>
                  <a:srgbClr val="1A202C"/>
                </a:solidFill>
                <a:latin typeface="Arial"/>
              </a:rPr>
              <a:t>20.000 najučestalijih reči</a:t>
            </a:r>
            <a:r>
              <a:rPr sz="1400">
                <a:solidFill>
                  <a:srgbClr val="1A202C"/>
                </a:solidFill>
                <a:latin typeface="Arial"/>
              </a:rPr>
              <a:t>, uz eliminisanje ekstremno retkih pojmova.</a:t>
            </a:r>
          </a:p>
          <a:p>
            <a:pPr>
              <a:spcAft>
                <a:spcPts val="1000"/>
              </a:spcAft>
            </a:pPr>
            <a:r>
              <a:rPr sz="1400">
                <a:solidFill>
                  <a:srgbClr val="1A202C"/>
                </a:solidFill>
                <a:latin typeface="Arial"/>
              </a:rPr>
              <a:t>• </a:t>
            </a:r>
            <a:r>
              <a:rPr sz="1400" b="1">
                <a:solidFill>
                  <a:srgbClr val="1A202C"/>
                </a:solidFill>
                <a:latin typeface="Arial"/>
              </a:rPr>
              <a:t>Klasifikacioni algoritam</a:t>
            </a:r>
            <a:r>
              <a:rPr sz="1400">
                <a:solidFill>
                  <a:srgbClr val="1A202C"/>
                </a:solidFill>
                <a:latin typeface="Arial"/>
              </a:rPr>
              <a:t>: Na kreiranim TF-IDF vektorima istrenirana je </a:t>
            </a:r>
            <a:r>
              <a:rPr sz="1400" b="1">
                <a:solidFill>
                  <a:srgbClr val="1A202C"/>
                </a:solidFill>
                <a:latin typeface="Arial"/>
              </a:rPr>
              <a:t>Logistička regresija</a:t>
            </a:r>
            <a:r>
              <a:rPr sz="1400">
                <a:solidFill>
                  <a:srgbClr val="1A202C"/>
                </a:solidFill>
                <a:latin typeface="Arial"/>
              </a:rPr>
              <a:t>.</a:t>
            </a:r>
          </a:p>
          <a:p>
            <a:pPr>
              <a:spcAft>
                <a:spcPts val="1000"/>
              </a:spcAft>
            </a:pPr>
            <a:r>
              <a:rPr sz="1400">
                <a:solidFill>
                  <a:srgbClr val="1A202C"/>
                </a:solidFill>
                <a:latin typeface="Arial"/>
              </a:rPr>
              <a:t>• </a:t>
            </a:r>
            <a:r>
              <a:rPr sz="1400" b="1">
                <a:solidFill>
                  <a:srgbClr val="1A202C"/>
                </a:solidFill>
                <a:latin typeface="Arial"/>
              </a:rPr>
              <a:t>Balansiranje klasa</a:t>
            </a:r>
            <a:r>
              <a:rPr sz="1400">
                <a:solidFill>
                  <a:srgbClr val="1A202C"/>
                </a:solidFill>
                <a:latin typeface="Arial"/>
              </a:rPr>
              <a:t>: Korišćen je parametar uravnoteženih težina klasa (</a:t>
            </a:r>
            <a:r>
              <a:rPr sz="1400" b="1">
                <a:solidFill>
                  <a:srgbClr val="1A202C"/>
                </a:solidFill>
                <a:latin typeface="Arial"/>
              </a:rPr>
              <a:t>class_weight='balanced'</a:t>
            </a:r>
            <a:r>
              <a:rPr sz="1400">
                <a:solidFill>
                  <a:srgbClr val="1A202C"/>
                </a:solidFill>
                <a:latin typeface="Arial"/>
              </a:rPr>
              <a:t>), čime se penalizacija greške na retkoj klasi proporcionalno uvećava.</a:t>
            </a:r>
          </a:p>
        </p:txBody>
      </p:sp>
      <p:sp>
        <p:nvSpPr>
          <p:cNvPr id="5" name="TextBox 4"/>
          <p:cNvSpPr txBox="1"/>
          <p:nvPr/>
        </p:nvSpPr>
        <p:spPr>
          <a:xfrm>
            <a:off x="6309360" y="1828800"/>
            <a:ext cx="5303520" cy="4114800"/>
          </a:xfrm>
          <a:prstGeom prst="rect">
            <a:avLst/>
          </a:prstGeom>
          <a:noFill/>
        </p:spPr>
        <p:txBody>
          <a:bodyPr wrap="square">
            <a:spAutoFit/>
          </a:bodyPr>
          <a:lstStyle/>
          <a:p>
            <a:pPr>
              <a:spcAft>
                <a:spcPts val="1400"/>
              </a:spcAft>
              <a:defRPr sz="2000" b="1">
                <a:solidFill>
                  <a:srgbClr val="E25C50"/>
                </a:solidFill>
                <a:latin typeface="Georgia"/>
              </a:defRPr>
            </a:pPr>
            <a:r>
              <a:t>Prednosti i uloga u razvoju</a:t>
            </a:r>
          </a:p>
          <a:p>
            <a:pPr>
              <a:spcAft>
                <a:spcPts val="1000"/>
              </a:spcAft>
            </a:pPr>
            <a:r>
              <a:rPr sz="1400">
                <a:solidFill>
                  <a:srgbClr val="1A202C"/>
                </a:solidFill>
                <a:latin typeface="Arial"/>
              </a:rPr>
              <a:t>• </a:t>
            </a:r>
            <a:r>
              <a:rPr sz="1400" b="1">
                <a:solidFill>
                  <a:srgbClr val="1A202C"/>
                </a:solidFill>
                <a:latin typeface="Arial"/>
              </a:rPr>
              <a:t>Zlatno pravilo mašinskog učenja</a:t>
            </a:r>
            <a:r>
              <a:rPr sz="1400">
                <a:solidFill>
                  <a:srgbClr val="1A202C"/>
                </a:solidFill>
                <a:latin typeface="Arial"/>
              </a:rPr>
              <a:t>: Prvo razvijamo jednostavan i brz model, pa tek onda uvodimo složenije arhitekture ako donose benefite.</a:t>
            </a:r>
          </a:p>
          <a:p>
            <a:pPr>
              <a:spcAft>
                <a:spcPts val="1000"/>
              </a:spcAft>
            </a:pPr>
            <a:r>
              <a:rPr sz="1400">
                <a:solidFill>
                  <a:srgbClr val="1A202C"/>
                </a:solidFill>
                <a:latin typeface="Arial"/>
              </a:rPr>
              <a:t>• </a:t>
            </a:r>
            <a:r>
              <a:rPr sz="1400" b="1">
                <a:solidFill>
                  <a:srgbClr val="1A202C"/>
                </a:solidFill>
                <a:latin typeface="Arial"/>
              </a:rPr>
              <a:t>Visoka interpretabilnost</a:t>
            </a:r>
            <a:r>
              <a:rPr sz="1400">
                <a:solidFill>
                  <a:srgbClr val="1A202C"/>
                </a:solidFill>
                <a:latin typeface="Arial"/>
              </a:rPr>
              <a:t>: Logistička regresija omogućava direktan uvid u naučene težine (koeficijente) za svaku reč.</a:t>
            </a:r>
          </a:p>
          <a:p>
            <a:pPr>
              <a:spcAft>
                <a:spcPts val="1000"/>
              </a:spcAft>
            </a:pPr>
            <a:r>
              <a:rPr sz="1400">
                <a:solidFill>
                  <a:srgbClr val="1A202C"/>
                </a:solidFill>
                <a:latin typeface="Arial"/>
              </a:rPr>
              <a:t>• </a:t>
            </a:r>
            <a:r>
              <a:rPr sz="1400" b="1">
                <a:solidFill>
                  <a:srgbClr val="1A202C"/>
                </a:solidFill>
                <a:latin typeface="Arial"/>
              </a:rPr>
              <a:t>Otkrivanje sumnjivih reči</a:t>
            </a:r>
            <a:r>
              <a:rPr sz="1400">
                <a:solidFill>
                  <a:srgbClr val="1A202C"/>
                </a:solidFill>
                <a:latin typeface="Arial"/>
              </a:rPr>
              <a:t>: Koeficijenti direktno ukazuju koje reči model najviše asocira sa prevarama (npr. nerealni iznosi plata, </a:t>
            </a:r>
            <a:r>
              <a:rPr sz="1400" b="1">
                <a:solidFill>
                  <a:srgbClr val="1A202C"/>
                </a:solidFill>
                <a:latin typeface="Arial"/>
              </a:rPr>
              <a:t>immediate start</a:t>
            </a:r>
            <a:r>
              <a:rPr sz="1400">
                <a:solidFill>
                  <a:srgbClr val="1A202C"/>
                </a:solidFill>
                <a:latin typeface="Arial"/>
              </a:rPr>
              <a:t>, </a:t>
            </a:r>
            <a:r>
              <a:rPr sz="1400" b="1">
                <a:solidFill>
                  <a:srgbClr val="1A202C"/>
                </a:solidFill>
                <a:latin typeface="Arial"/>
              </a:rPr>
              <a:t>no experience required</a:t>
            </a:r>
            <a:r>
              <a:rPr sz="1400">
                <a:solidFill>
                  <a:srgbClr val="1A202C"/>
                </a:solidFill>
                <a:latin typeface="Aria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Fino podešeni DistilBERT uspešno prepoznaje suptilni kontekst prevare</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0"/>
            <a:ext cx="5303520" cy="4114800"/>
          </a:xfrm>
          <a:prstGeom prst="rect">
            <a:avLst/>
          </a:prstGeom>
          <a:noFill/>
        </p:spPr>
        <p:txBody>
          <a:bodyPr wrap="square">
            <a:spAutoFit/>
          </a:bodyPr>
          <a:lstStyle/>
          <a:p>
            <a:pPr>
              <a:spcAft>
                <a:spcPts val="1400"/>
              </a:spcAft>
              <a:defRPr sz="2000" b="1">
                <a:solidFill>
                  <a:srgbClr val="319795"/>
                </a:solidFill>
                <a:latin typeface="Georgia"/>
              </a:defRPr>
            </a:pPr>
            <a:r>
              <a:t>Zašto baš DistilBERT?</a:t>
            </a:r>
          </a:p>
          <a:p>
            <a:pPr>
              <a:spcAft>
                <a:spcPts val="1000"/>
              </a:spcAft>
            </a:pPr>
            <a:r>
              <a:rPr sz="1400">
                <a:solidFill>
                  <a:srgbClr val="1A202C"/>
                </a:solidFill>
                <a:latin typeface="Arial"/>
              </a:rPr>
              <a:t>• </a:t>
            </a:r>
            <a:r>
              <a:rPr sz="1400" b="1">
                <a:solidFill>
                  <a:srgbClr val="1A202C"/>
                </a:solidFill>
                <a:latin typeface="Arial"/>
              </a:rPr>
              <a:t>Ograničenja bag-of-words</a:t>
            </a:r>
            <a:r>
              <a:rPr sz="1400">
                <a:solidFill>
                  <a:srgbClr val="1A202C"/>
                </a:solidFill>
                <a:latin typeface="Arial"/>
              </a:rPr>
              <a:t>: TF-IDF tretira reči izolovano i gubi informaciju o redosledu i kontekstu.</a:t>
            </a:r>
          </a:p>
          <a:p>
            <a:pPr>
              <a:spcAft>
                <a:spcPts val="1000"/>
              </a:spcAft>
            </a:pPr>
            <a:r>
              <a:rPr sz="1400">
                <a:solidFill>
                  <a:srgbClr val="1A202C"/>
                </a:solidFill>
                <a:latin typeface="Arial"/>
              </a:rPr>
              <a:t>• </a:t>
            </a:r>
            <a:r>
              <a:rPr sz="1400" b="1">
                <a:solidFill>
                  <a:srgbClr val="1A202C"/>
                </a:solidFill>
                <a:latin typeface="Arial"/>
              </a:rPr>
              <a:t>Duboko razumevanje jezika</a:t>
            </a:r>
            <a:r>
              <a:rPr sz="1400">
                <a:solidFill>
                  <a:srgbClr val="1A202C"/>
                </a:solidFill>
                <a:latin typeface="Arial"/>
              </a:rPr>
              <a:t>: DistilBERT je zasnovan na mehanizmu pažnje (</a:t>
            </a:r>
            <a:r>
              <a:rPr sz="1400" b="1">
                <a:solidFill>
                  <a:srgbClr val="1A202C"/>
                </a:solidFill>
                <a:latin typeface="Arial"/>
              </a:rPr>
              <a:t>transformer attention</a:t>
            </a:r>
            <a:r>
              <a:rPr sz="1400">
                <a:solidFill>
                  <a:srgbClr val="1A202C"/>
                </a:solidFill>
                <a:latin typeface="Arial"/>
              </a:rPr>
              <a:t>), što mu omogućava da analizira celokupan kontekst rečenice.</a:t>
            </a:r>
          </a:p>
          <a:p>
            <a:pPr>
              <a:spcAft>
                <a:spcPts val="1000"/>
              </a:spcAft>
            </a:pPr>
            <a:r>
              <a:rPr sz="1400">
                <a:solidFill>
                  <a:srgbClr val="1A202C"/>
                </a:solidFill>
                <a:latin typeface="Arial"/>
              </a:rPr>
              <a:t>• </a:t>
            </a:r>
            <a:r>
              <a:rPr sz="1400" b="1">
                <a:solidFill>
                  <a:srgbClr val="1A202C"/>
                </a:solidFill>
                <a:latin typeface="Arial"/>
              </a:rPr>
              <a:t>Efikasnost u produkciji</a:t>
            </a:r>
            <a:r>
              <a:rPr sz="1400">
                <a:solidFill>
                  <a:srgbClr val="1A202C"/>
                </a:solidFill>
                <a:latin typeface="Arial"/>
              </a:rPr>
              <a:t>: DistilBERT zadržava preko </a:t>
            </a:r>
            <a:r>
              <a:rPr sz="1400" b="1">
                <a:solidFill>
                  <a:srgbClr val="1A202C"/>
                </a:solidFill>
                <a:latin typeface="Arial"/>
              </a:rPr>
              <a:t>97% performansi</a:t>
            </a:r>
            <a:r>
              <a:rPr sz="1400">
                <a:solidFill>
                  <a:srgbClr val="1A202C"/>
                </a:solidFill>
                <a:latin typeface="Arial"/>
              </a:rPr>
              <a:t> punog BERT modela, a pritom je </a:t>
            </a:r>
            <a:r>
              <a:rPr sz="1400" b="1">
                <a:solidFill>
                  <a:srgbClr val="1A202C"/>
                </a:solidFill>
                <a:latin typeface="Arial"/>
              </a:rPr>
              <a:t>40% manji i 60% brži</a:t>
            </a:r>
            <a:r>
              <a:rPr sz="1400">
                <a:solidFill>
                  <a:srgbClr val="1A202C"/>
                </a:solidFill>
                <a:latin typeface="Arial"/>
              </a:rPr>
              <a:t>, što je ključno za real-time aplikaciju.</a:t>
            </a:r>
          </a:p>
        </p:txBody>
      </p:sp>
      <p:sp>
        <p:nvSpPr>
          <p:cNvPr id="5" name="Rounded Rectangle 4"/>
          <p:cNvSpPr/>
          <p:nvPr/>
        </p:nvSpPr>
        <p:spPr>
          <a:xfrm>
            <a:off x="6309360" y="1920240"/>
            <a:ext cx="5303520" cy="3931920"/>
          </a:xfrm>
          <a:prstGeom prst="roundRect">
            <a:avLst/>
          </a:prstGeom>
          <a:solidFill>
            <a:srgbClr val="EEEBE4"/>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1300" b="1">
                <a:solidFill>
                  <a:srgbClr val="319795"/>
                </a:solidFill>
                <a:latin typeface="Arial"/>
              </a:defRPr>
            </a:pPr>
            <a:r>
              <a:t>PROCES FINOG PODEŠAVANJA</a:t>
            </a:r>
          </a:p>
          <a:p>
            <a:pPr>
              <a:defRPr sz="1300" b="1">
                <a:solidFill>
                  <a:srgbClr val="1A202C"/>
                </a:solidFill>
                <a:latin typeface="Arial"/>
              </a:defRPr>
            </a:pPr>
            <a:r>
              <a:t>➤ Inicijalni model:</a:t>
            </a:r>
          </a:p>
          <a:p>
            <a:pPr>
              <a:spcAft>
                <a:spcPts val="600"/>
              </a:spcAft>
              <a:defRPr sz="1200">
                <a:solidFill>
                  <a:srgbClr val="718096"/>
                </a:solidFill>
                <a:latin typeface="Arial"/>
              </a:defRPr>
            </a:pPr>
            <a:r>
              <a:t>distilbert-base-uncased (unapred istreniran na ogromnom korpusu)</a:t>
            </a:r>
          </a:p>
          <a:p>
            <a:pPr>
              <a:defRPr sz="1300" b="1">
                <a:solidFill>
                  <a:srgbClr val="1A202C"/>
                </a:solidFill>
                <a:latin typeface="Arial"/>
              </a:defRPr>
            </a:pPr>
            <a:r>
              <a:t>➤ Parametri treninga:</a:t>
            </a:r>
          </a:p>
          <a:p>
            <a:pPr>
              <a:spcAft>
                <a:spcPts val="600"/>
              </a:spcAft>
              <a:defRPr sz="1200">
                <a:solidFill>
                  <a:srgbClr val="718096"/>
                </a:solidFill>
                <a:latin typeface="Arial"/>
              </a:defRPr>
            </a:pPr>
            <a:r>
              <a:t>3 epohe, stopa učenja 2×10⁻⁵, veličina paketa (batch size) 16, maks. sekvenca 256 tokena</a:t>
            </a:r>
          </a:p>
          <a:p>
            <a:pPr>
              <a:defRPr sz="1300" b="1">
                <a:solidFill>
                  <a:srgbClr val="1A202C"/>
                </a:solidFill>
                <a:latin typeface="Arial"/>
              </a:defRPr>
            </a:pPr>
            <a:r>
              <a:t>➤ Rešavanje neravnoteže:</a:t>
            </a:r>
          </a:p>
          <a:p>
            <a:pPr>
              <a:spcAft>
                <a:spcPts val="600"/>
              </a:spcAft>
              <a:defRPr sz="1200">
                <a:solidFill>
                  <a:srgbClr val="718096"/>
                </a:solidFill>
                <a:latin typeface="Arial"/>
              </a:defRPr>
            </a:pPr>
            <a:r>
              <a:t>Weighted cross-entropy funkcija gubitka (ponderi obrnuto srazmerni učestalosti klasa)</a:t>
            </a:r>
          </a:p>
          <a:p>
            <a:pPr>
              <a:defRPr sz="1300" b="1">
                <a:solidFill>
                  <a:srgbClr val="1A202C"/>
                </a:solidFill>
                <a:latin typeface="Arial"/>
              </a:defRPr>
            </a:pPr>
            <a:r>
              <a:t>➤ Hardver:</a:t>
            </a:r>
          </a:p>
          <a:p>
            <a:pPr>
              <a:spcAft>
                <a:spcPts val="600"/>
              </a:spcAft>
              <a:defRPr sz="1200">
                <a:solidFill>
                  <a:srgbClr val="718096"/>
                </a:solidFill>
                <a:latin typeface="Arial"/>
              </a:defRPr>
            </a:pPr>
            <a:r>
              <a:t>Ubrzano treniranje pomoću PyTorch i Hugging Face radnih okvira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Veliki jezički model služi isključivo za interpretaciju i objašnjenje odluke</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828800"/>
            <a:ext cx="5303520" cy="4114800"/>
          </a:xfrm>
          <a:prstGeom prst="rect">
            <a:avLst/>
          </a:prstGeom>
          <a:noFill/>
        </p:spPr>
        <p:txBody>
          <a:bodyPr wrap="square">
            <a:spAutoFit/>
          </a:bodyPr>
          <a:lstStyle/>
          <a:p>
            <a:pPr>
              <a:spcAft>
                <a:spcPts val="1400"/>
              </a:spcAft>
              <a:defRPr sz="2000" b="1">
                <a:solidFill>
                  <a:srgbClr val="319795"/>
                </a:solidFill>
                <a:latin typeface="Georgia"/>
              </a:defRPr>
            </a:pPr>
            <a:r>
              <a:t>Uloga LLM-a u arhitekturi</a:t>
            </a:r>
          </a:p>
          <a:p>
            <a:pPr>
              <a:spcAft>
                <a:spcPts val="1000"/>
              </a:spcAft>
            </a:pPr>
            <a:r>
              <a:rPr sz="1400">
                <a:solidFill>
                  <a:srgbClr val="1A202C"/>
                </a:solidFill>
                <a:latin typeface="Arial"/>
              </a:rPr>
              <a:t>• </a:t>
            </a:r>
            <a:r>
              <a:rPr sz="1400" b="1">
                <a:solidFill>
                  <a:srgbClr val="1A202C"/>
                </a:solidFill>
                <a:latin typeface="Arial"/>
              </a:rPr>
              <a:t>Podela odgovornosti</a:t>
            </a:r>
            <a:r>
              <a:rPr sz="1400">
                <a:solidFill>
                  <a:srgbClr val="1A202C"/>
                </a:solidFill>
                <a:latin typeface="Arial"/>
              </a:rPr>
              <a:t>: LLM </a:t>
            </a:r>
            <a:r>
              <a:rPr sz="1400" b="1">
                <a:solidFill>
                  <a:srgbClr val="1A202C"/>
                </a:solidFill>
                <a:latin typeface="Arial"/>
              </a:rPr>
              <a:t>ne klasifikuje</a:t>
            </a:r>
            <a:r>
              <a:rPr sz="1400">
                <a:solidFill>
                  <a:srgbClr val="1A202C"/>
                </a:solidFill>
                <a:latin typeface="Arial"/>
              </a:rPr>
              <a:t> i ne donosi odluku da li je oglas prevara (taj zadatak obavlja pouzdaniji DistilBERT).</a:t>
            </a:r>
          </a:p>
          <a:p>
            <a:pPr>
              <a:spcAft>
                <a:spcPts val="1000"/>
              </a:spcAft>
            </a:pPr>
            <a:r>
              <a:rPr sz="1400">
                <a:solidFill>
                  <a:srgbClr val="1A202C"/>
                </a:solidFill>
                <a:latin typeface="Arial"/>
              </a:rPr>
              <a:t>• </a:t>
            </a:r>
            <a:r>
              <a:rPr sz="1400" b="1">
                <a:solidFill>
                  <a:srgbClr val="1A202C"/>
                </a:solidFill>
                <a:latin typeface="Arial"/>
              </a:rPr>
              <a:t>Svrha sloja</a:t>
            </a:r>
            <a:r>
              <a:rPr sz="1400">
                <a:solidFill>
                  <a:srgbClr val="1A202C"/>
                </a:solidFill>
                <a:latin typeface="Arial"/>
              </a:rPr>
              <a:t>: Ukoliko DistilBERT proceni da je oglas lažan sa visokom verovatnoćom, aktivira se LLM sa ciljem da generiše obrazloženje razumljivo čoveku.</a:t>
            </a:r>
          </a:p>
          <a:p>
            <a:pPr>
              <a:spcAft>
                <a:spcPts val="1000"/>
              </a:spcAft>
            </a:pPr>
            <a:r>
              <a:rPr sz="1400">
                <a:solidFill>
                  <a:srgbClr val="1A202C"/>
                </a:solidFill>
                <a:latin typeface="Arial"/>
              </a:rPr>
              <a:t>• </a:t>
            </a:r>
            <a:r>
              <a:rPr sz="1400" b="1">
                <a:solidFill>
                  <a:srgbClr val="1A202C"/>
                </a:solidFill>
                <a:latin typeface="Arial"/>
              </a:rPr>
              <a:t>Tehnički pristup</a:t>
            </a:r>
            <a:r>
              <a:rPr sz="1400">
                <a:solidFill>
                  <a:srgbClr val="1A202C"/>
                </a:solidFill>
                <a:latin typeface="Arial"/>
              </a:rPr>
              <a:t>: Pristup se ostvaruje preko </a:t>
            </a:r>
            <a:r>
              <a:rPr sz="1400" b="1">
                <a:solidFill>
                  <a:srgbClr val="1A202C"/>
                </a:solidFill>
                <a:latin typeface="Arial"/>
              </a:rPr>
              <a:t>Groq platforme</a:t>
            </a:r>
            <a:r>
              <a:rPr sz="1400">
                <a:solidFill>
                  <a:srgbClr val="1A202C"/>
                </a:solidFill>
                <a:latin typeface="Arial"/>
              </a:rPr>
              <a:t> za brzi rad, koristeći model </a:t>
            </a:r>
            <a:r>
              <a:rPr sz="1400" b="1">
                <a:solidFill>
                  <a:srgbClr val="1A202C"/>
                </a:solidFill>
                <a:latin typeface="Arial"/>
              </a:rPr>
              <a:t>openai/gpt-oss-20b</a:t>
            </a:r>
            <a:r>
              <a:rPr sz="1400">
                <a:solidFill>
                  <a:srgbClr val="1A202C"/>
                </a:solidFill>
                <a:latin typeface="Arial"/>
              </a:rPr>
              <a:t>.</a:t>
            </a:r>
          </a:p>
        </p:txBody>
      </p:sp>
      <p:sp>
        <p:nvSpPr>
          <p:cNvPr id="5" name="TextBox 4"/>
          <p:cNvSpPr txBox="1"/>
          <p:nvPr/>
        </p:nvSpPr>
        <p:spPr>
          <a:xfrm>
            <a:off x="6309360" y="1828800"/>
            <a:ext cx="5303520" cy="4114800"/>
          </a:xfrm>
          <a:prstGeom prst="rect">
            <a:avLst/>
          </a:prstGeom>
          <a:noFill/>
        </p:spPr>
        <p:txBody>
          <a:bodyPr wrap="square">
            <a:spAutoFit/>
          </a:bodyPr>
          <a:lstStyle/>
          <a:p>
            <a:pPr>
              <a:spcAft>
                <a:spcPts val="1400"/>
              </a:spcAft>
              <a:defRPr sz="2000" b="1">
                <a:solidFill>
                  <a:srgbClr val="E25C50"/>
                </a:solidFill>
                <a:latin typeface="Georgia"/>
              </a:defRPr>
            </a:pPr>
            <a:r>
              <a:t>Detekcija specifičnih crvenih signala</a:t>
            </a:r>
          </a:p>
          <a:p>
            <a:pPr>
              <a:spcAft>
                <a:spcPts val="600"/>
              </a:spcAft>
            </a:pPr>
            <a:r>
              <a:rPr sz="1400">
                <a:solidFill>
                  <a:srgbClr val="1A202C"/>
                </a:solidFill>
                <a:latin typeface="Arial"/>
              </a:rPr>
              <a:t>• </a:t>
            </a:r>
            <a:r>
              <a:rPr sz="1400" b="1">
                <a:solidFill>
                  <a:srgbClr val="1A202C"/>
                </a:solidFill>
                <a:latin typeface="Arial"/>
              </a:rPr>
              <a:t>Strukturisani JSON izlaz</a:t>
            </a:r>
            <a:r>
              <a:rPr sz="1400">
                <a:solidFill>
                  <a:srgbClr val="1A202C"/>
                </a:solidFill>
                <a:latin typeface="Arial"/>
              </a:rPr>
              <a:t>: LLM upit je dizajniran tako da vrati striktno formatiran JSON koji sadrži listu 'crvenih signala' i tekstualno objašnjenje.</a:t>
            </a:r>
          </a:p>
          <a:p>
            <a:pPr>
              <a:spcAft>
                <a:spcPts val="600"/>
              </a:spcAft>
            </a:pPr>
            <a:r>
              <a:rPr sz="1400">
                <a:solidFill>
                  <a:srgbClr val="1A202C"/>
                </a:solidFill>
                <a:latin typeface="Arial"/>
              </a:rPr>
              <a:t>• </a:t>
            </a:r>
            <a:r>
              <a:rPr sz="1400" b="1">
                <a:solidFill>
                  <a:srgbClr val="1A202C"/>
                </a:solidFill>
                <a:latin typeface="Arial"/>
              </a:rPr>
              <a:t>Identifikovani indikatori</a:t>
            </a:r>
            <a:r>
              <a:rPr sz="1400">
                <a:solidFill>
                  <a:srgbClr val="1A202C"/>
                </a:solidFill>
                <a:latin typeface="Arial"/>
              </a:rPr>
              <a:t>: Model se fokusira na proverene obrasce finansijskih i ličnih prevara:</a:t>
            </a:r>
          </a:p>
          <a:p>
            <a:pPr>
              <a:spcAft>
                <a:spcPts val="600"/>
              </a:spcAft>
            </a:pPr>
            <a:r>
              <a:rPr sz="1300" b="1">
                <a:solidFill>
                  <a:srgbClr val="718096"/>
                </a:solidFill>
                <a:latin typeface="Arial"/>
              </a:rPr>
              <a:t>Nerealno visoka zarada</a:t>
            </a:r>
            <a:r>
              <a:rPr sz="1300">
                <a:solidFill>
                  <a:srgbClr val="718096"/>
                </a:solidFill>
                <a:latin typeface="Arial"/>
              </a:rPr>
              <a:t> za nizak nivo stručne spreme</a:t>
            </a:r>
          </a:p>
          <a:p>
            <a:pPr>
              <a:spcAft>
                <a:spcPts val="600"/>
              </a:spcAft>
            </a:pPr>
            <a:r>
              <a:rPr sz="1300" b="1">
                <a:solidFill>
                  <a:srgbClr val="718096"/>
                </a:solidFill>
                <a:latin typeface="Arial"/>
              </a:rPr>
              <a:t>Pritisak hitnosti</a:t>
            </a:r>
            <a:r>
              <a:rPr sz="1300">
                <a:solidFill>
                  <a:srgbClr val="718096"/>
                </a:solidFill>
                <a:latin typeface="Arial"/>
              </a:rPr>
              <a:t> ('immediate start', 'apply now')</a:t>
            </a:r>
          </a:p>
          <a:p>
            <a:pPr>
              <a:spcAft>
                <a:spcPts val="600"/>
              </a:spcAft>
            </a:pPr>
            <a:r>
              <a:rPr sz="1300" b="1">
                <a:solidFill>
                  <a:srgbClr val="718096"/>
                </a:solidFill>
                <a:latin typeface="Arial"/>
              </a:rPr>
              <a:t>Traženje uplate unapred</a:t>
            </a:r>
            <a:r>
              <a:rPr sz="1300">
                <a:solidFill>
                  <a:srgbClr val="718096"/>
                </a:solidFill>
                <a:latin typeface="Arial"/>
              </a:rPr>
              <a:t> ili dostavljanje JMBG-a pre intervjua</a:t>
            </a:r>
          </a:p>
          <a:p>
            <a:pPr>
              <a:spcAft>
                <a:spcPts val="600"/>
              </a:spcAft>
            </a:pPr>
            <a:r>
              <a:rPr sz="1300" b="1">
                <a:solidFill>
                  <a:srgbClr val="718096"/>
                </a:solidFill>
                <a:latin typeface="Arial"/>
              </a:rPr>
              <a:t>Potpuni izostanak podataka o poslodavcu</a:t>
            </a:r>
            <a:r>
              <a:rPr sz="1300">
                <a:solidFill>
                  <a:srgbClr val="718096"/>
                </a:solidFill>
                <a:latin typeface="Arial"/>
              </a:rPr>
              <a:t> ili sumnjivi kontakti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DistilBERT drastično smanjuje broj lažnih uzbuna sa 48 na svega 12</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48640" y="1828800"/>
          <a:ext cx="11064239" cy="3931920"/>
        </p:xfrm>
        <a:graphic>
          <a:graphicData uri="http://schemas.openxmlformats.org/drawingml/2006/table">
            <a:tbl>
              <a:tblPr firstRow="1" bandRow="1">
                <a:tableStyleId>{5C22544A-7EE6-4342-B048-85BDC9FD1C3A}</a:tableStyleId>
              </a:tblPr>
              <a:tblGrid>
                <a:gridCol w="3749039">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61702">
                <a:tc>
                  <a:txBody>
                    <a:bodyPr/>
                    <a:lstStyle/>
                    <a:p>
                      <a:pPr algn="ctr"/>
                      <a:r>
                        <a:rPr sz="1400" b="1">
                          <a:solidFill>
                            <a:srgbClr val="FFFFFF"/>
                          </a:solidFill>
                          <a:latin typeface="Arial"/>
                        </a:rPr>
                        <a:t>Metrika / Pokazatelj</a:t>
                      </a:r>
                    </a:p>
                  </a:txBody>
                  <a:tcPr>
                    <a:solidFill>
                      <a:srgbClr val="1A202C"/>
                    </a:solidFill>
                  </a:tcPr>
                </a:tc>
                <a:tc>
                  <a:txBody>
                    <a:bodyPr/>
                    <a:lstStyle/>
                    <a:p>
                      <a:pPr algn="ctr"/>
                      <a:r>
                        <a:rPr sz="1400" b="1">
                          <a:solidFill>
                            <a:srgbClr val="FFFFFF"/>
                          </a:solidFill>
                          <a:latin typeface="Arial"/>
                        </a:rPr>
                        <a:t>Referentni model (TF-IDF + LogReg)</a:t>
                      </a:r>
                    </a:p>
                  </a:txBody>
                  <a:tcPr>
                    <a:solidFill>
                      <a:srgbClr val="1A202C"/>
                    </a:solidFill>
                  </a:tcPr>
                </a:tc>
                <a:tc>
                  <a:txBody>
                    <a:bodyPr/>
                    <a:lstStyle/>
                    <a:p>
                      <a:pPr algn="ctr"/>
                      <a:r>
                        <a:rPr sz="1400" b="1">
                          <a:solidFill>
                            <a:srgbClr val="FFFFFF"/>
                          </a:solidFill>
                          <a:latin typeface="Arial"/>
                        </a:rPr>
                        <a:t>Fino podešeni DistilBERT</a:t>
                      </a:r>
                    </a:p>
                  </a:txBody>
                  <a:tcPr>
                    <a:solidFill>
                      <a:srgbClr val="1A202C"/>
                    </a:solidFill>
                  </a:tcPr>
                </a:tc>
                <a:extLst>
                  <a:ext uri="{0D108BD9-81ED-4DB2-BD59-A6C34878D82A}">
                    <a16:rowId xmlns:a16="http://schemas.microsoft.com/office/drawing/2014/main" val="10000"/>
                  </a:ext>
                </a:extLst>
              </a:tr>
              <a:tr h="561702">
                <a:tc>
                  <a:txBody>
                    <a:bodyPr/>
                    <a:lstStyle/>
                    <a:p>
                      <a:pPr algn="l"/>
                      <a:r>
                        <a:rPr sz="1300">
                          <a:solidFill>
                            <a:srgbClr val="1A202C"/>
                          </a:solidFill>
                          <a:latin typeface="Arial"/>
                        </a:rPr>
                        <a:t>Preciznost (Precision) na klasi 'Lažno'</a:t>
                      </a:r>
                    </a:p>
                  </a:txBody>
                  <a:tcPr>
                    <a:solidFill>
                      <a:srgbClr val="FFFFFF"/>
                    </a:solidFill>
                  </a:tcPr>
                </a:tc>
                <a:tc>
                  <a:txBody>
                    <a:bodyPr/>
                    <a:lstStyle/>
                    <a:p>
                      <a:pPr algn="ctr"/>
                      <a:r>
                        <a:rPr sz="1300">
                          <a:solidFill>
                            <a:srgbClr val="E25C50"/>
                          </a:solidFill>
                          <a:latin typeface="Arial"/>
                        </a:rPr>
                        <a:t>0.766</a:t>
                      </a:r>
                    </a:p>
                  </a:txBody>
                  <a:tcPr>
                    <a:solidFill>
                      <a:srgbClr val="FFFFFF"/>
                    </a:solidFill>
                  </a:tcPr>
                </a:tc>
                <a:tc>
                  <a:txBody>
                    <a:bodyPr/>
                    <a:lstStyle/>
                    <a:p>
                      <a:pPr algn="ctr"/>
                      <a:r>
                        <a:rPr sz="1300" b="1">
                          <a:solidFill>
                            <a:srgbClr val="319795"/>
                          </a:solidFill>
                          <a:latin typeface="Arial"/>
                        </a:rPr>
                        <a:t>0.924 (Rast za 16%)</a:t>
                      </a:r>
                    </a:p>
                  </a:txBody>
                  <a:tcPr>
                    <a:solidFill>
                      <a:srgbClr val="FFFFFF"/>
                    </a:solidFill>
                  </a:tcPr>
                </a:tc>
                <a:extLst>
                  <a:ext uri="{0D108BD9-81ED-4DB2-BD59-A6C34878D82A}">
                    <a16:rowId xmlns:a16="http://schemas.microsoft.com/office/drawing/2014/main" val="10001"/>
                  </a:ext>
                </a:extLst>
              </a:tr>
              <a:tr h="561702">
                <a:tc>
                  <a:txBody>
                    <a:bodyPr/>
                    <a:lstStyle/>
                    <a:p>
                      <a:pPr algn="l"/>
                      <a:r>
                        <a:rPr sz="1300">
                          <a:solidFill>
                            <a:srgbClr val="1A202C"/>
                          </a:solidFill>
                          <a:latin typeface="Arial"/>
                        </a:rPr>
                        <a:t>Odziv (Recall) na klasi 'Lažno'</a:t>
                      </a:r>
                    </a:p>
                  </a:txBody>
                  <a:tcPr>
                    <a:solidFill>
                      <a:srgbClr val="EEEBE4"/>
                    </a:solidFill>
                  </a:tcPr>
                </a:tc>
                <a:tc>
                  <a:txBody>
                    <a:bodyPr/>
                    <a:lstStyle/>
                    <a:p>
                      <a:pPr algn="ctr"/>
                      <a:r>
                        <a:rPr sz="1300">
                          <a:solidFill>
                            <a:srgbClr val="1A202C"/>
                          </a:solidFill>
                          <a:latin typeface="Arial"/>
                        </a:rPr>
                        <a:t>0.908</a:t>
                      </a:r>
                    </a:p>
                  </a:txBody>
                  <a:tcPr>
                    <a:solidFill>
                      <a:srgbClr val="EEEBE4"/>
                    </a:solidFill>
                  </a:tcPr>
                </a:tc>
                <a:tc>
                  <a:txBody>
                    <a:bodyPr/>
                    <a:lstStyle/>
                    <a:p>
                      <a:pPr algn="ctr"/>
                      <a:r>
                        <a:rPr sz="1300">
                          <a:solidFill>
                            <a:srgbClr val="1A202C"/>
                          </a:solidFill>
                          <a:latin typeface="Arial"/>
                        </a:rPr>
                        <a:t>0.844 (Blagi pad)</a:t>
                      </a:r>
                    </a:p>
                  </a:txBody>
                  <a:tcPr>
                    <a:solidFill>
                      <a:srgbClr val="EEEBE4"/>
                    </a:solidFill>
                  </a:tcPr>
                </a:tc>
                <a:extLst>
                  <a:ext uri="{0D108BD9-81ED-4DB2-BD59-A6C34878D82A}">
                    <a16:rowId xmlns:a16="http://schemas.microsoft.com/office/drawing/2014/main" val="10002"/>
                  </a:ext>
                </a:extLst>
              </a:tr>
              <a:tr h="561702">
                <a:tc>
                  <a:txBody>
                    <a:bodyPr/>
                    <a:lstStyle/>
                    <a:p>
                      <a:pPr algn="l"/>
                      <a:r>
                        <a:rPr sz="1300">
                          <a:solidFill>
                            <a:srgbClr val="1A202C"/>
                          </a:solidFill>
                          <a:latin typeface="Arial"/>
                        </a:rPr>
                        <a:t>F1-mera na klasi 'Lažno'</a:t>
                      </a:r>
                    </a:p>
                  </a:txBody>
                  <a:tcPr>
                    <a:solidFill>
                      <a:srgbClr val="FFFFFF"/>
                    </a:solidFill>
                  </a:tcPr>
                </a:tc>
                <a:tc>
                  <a:txBody>
                    <a:bodyPr/>
                    <a:lstStyle/>
                    <a:p>
                      <a:pPr algn="ctr"/>
                      <a:r>
                        <a:rPr sz="1300">
                          <a:solidFill>
                            <a:srgbClr val="1A202C"/>
                          </a:solidFill>
                          <a:latin typeface="Arial"/>
                        </a:rPr>
                        <a:t>0.831</a:t>
                      </a:r>
                    </a:p>
                  </a:txBody>
                  <a:tcPr>
                    <a:solidFill>
                      <a:srgbClr val="FFFFFF"/>
                    </a:solidFill>
                  </a:tcPr>
                </a:tc>
                <a:tc>
                  <a:txBody>
                    <a:bodyPr/>
                    <a:lstStyle/>
                    <a:p>
                      <a:pPr algn="ctr"/>
                      <a:r>
                        <a:rPr sz="1300" b="1">
                          <a:solidFill>
                            <a:srgbClr val="319795"/>
                          </a:solidFill>
                          <a:latin typeface="Arial"/>
                        </a:rPr>
                        <a:t>0.882 (Značajno poboljšanje)</a:t>
                      </a:r>
                    </a:p>
                  </a:txBody>
                  <a:tcPr>
                    <a:solidFill>
                      <a:srgbClr val="FFFFFF"/>
                    </a:solidFill>
                  </a:tcPr>
                </a:tc>
                <a:extLst>
                  <a:ext uri="{0D108BD9-81ED-4DB2-BD59-A6C34878D82A}">
                    <a16:rowId xmlns:a16="http://schemas.microsoft.com/office/drawing/2014/main" val="10003"/>
                  </a:ext>
                </a:extLst>
              </a:tr>
              <a:tr h="561702">
                <a:tc>
                  <a:txBody>
                    <a:bodyPr/>
                    <a:lstStyle/>
                    <a:p>
                      <a:pPr algn="l"/>
                      <a:r>
                        <a:rPr sz="1300">
                          <a:solidFill>
                            <a:srgbClr val="1A202C"/>
                          </a:solidFill>
                          <a:latin typeface="Arial"/>
                        </a:rPr>
                        <a:t>PR-AUC (Kriva preciznost-odziv)</a:t>
                      </a:r>
                    </a:p>
                  </a:txBody>
                  <a:tcPr>
                    <a:solidFill>
                      <a:srgbClr val="EEEBE4"/>
                    </a:solidFill>
                  </a:tcPr>
                </a:tc>
                <a:tc>
                  <a:txBody>
                    <a:bodyPr/>
                    <a:lstStyle/>
                    <a:p>
                      <a:pPr algn="ctr"/>
                      <a:r>
                        <a:rPr sz="1300">
                          <a:solidFill>
                            <a:srgbClr val="1A202C"/>
                          </a:solidFill>
                          <a:latin typeface="Arial"/>
                        </a:rPr>
                        <a:t>0.921</a:t>
                      </a:r>
                    </a:p>
                  </a:txBody>
                  <a:tcPr>
                    <a:solidFill>
                      <a:srgbClr val="EEEBE4"/>
                    </a:solidFill>
                  </a:tcPr>
                </a:tc>
                <a:tc>
                  <a:txBody>
                    <a:bodyPr/>
                    <a:lstStyle/>
                    <a:p>
                      <a:pPr algn="ctr"/>
                      <a:r>
                        <a:rPr sz="1300">
                          <a:solidFill>
                            <a:srgbClr val="1A202C"/>
                          </a:solidFill>
                          <a:latin typeface="Arial"/>
                        </a:rPr>
                        <a:t>0.934 (Slična moć razdvajanja)</a:t>
                      </a:r>
                    </a:p>
                  </a:txBody>
                  <a:tcPr>
                    <a:solidFill>
                      <a:srgbClr val="EEEBE4"/>
                    </a:solidFill>
                  </a:tcPr>
                </a:tc>
                <a:extLst>
                  <a:ext uri="{0D108BD9-81ED-4DB2-BD59-A6C34878D82A}">
                    <a16:rowId xmlns:a16="http://schemas.microsoft.com/office/drawing/2014/main" val="10004"/>
                  </a:ext>
                </a:extLst>
              </a:tr>
              <a:tr h="561702">
                <a:tc>
                  <a:txBody>
                    <a:bodyPr/>
                    <a:lstStyle/>
                    <a:p>
                      <a:pPr algn="l"/>
                      <a:r>
                        <a:rPr sz="1300">
                          <a:solidFill>
                            <a:srgbClr val="1A202C"/>
                          </a:solidFill>
                          <a:latin typeface="Arial"/>
                        </a:rPr>
                        <a:t>Lažne uzbune (False Positives) - SKUP</a:t>
                      </a:r>
                    </a:p>
                  </a:txBody>
                  <a:tcPr>
                    <a:solidFill>
                      <a:srgbClr val="FFFFFF"/>
                    </a:solidFill>
                  </a:tcPr>
                </a:tc>
                <a:tc>
                  <a:txBody>
                    <a:bodyPr/>
                    <a:lstStyle/>
                    <a:p>
                      <a:pPr algn="ctr"/>
                      <a:r>
                        <a:rPr sz="1300">
                          <a:solidFill>
                            <a:srgbClr val="E25C50"/>
                          </a:solidFill>
                          <a:latin typeface="Arial"/>
                        </a:rPr>
                        <a:t>48 legitimnih oglasa pogrešno označeno</a:t>
                      </a:r>
                    </a:p>
                  </a:txBody>
                  <a:tcPr>
                    <a:solidFill>
                      <a:srgbClr val="FFFFFF"/>
                    </a:solidFill>
                  </a:tcPr>
                </a:tc>
                <a:tc>
                  <a:txBody>
                    <a:bodyPr/>
                    <a:lstStyle/>
                    <a:p>
                      <a:pPr algn="ctr"/>
                      <a:r>
                        <a:rPr sz="1300" b="1">
                          <a:solidFill>
                            <a:srgbClr val="319795"/>
                          </a:solidFill>
                          <a:latin typeface="Arial"/>
                        </a:rPr>
                        <a:t>Svega 12 legitimnih oglasa (Smanjenje za 75%)</a:t>
                      </a:r>
                    </a:p>
                  </a:txBody>
                  <a:tcPr>
                    <a:solidFill>
                      <a:srgbClr val="FFFFFF"/>
                    </a:solidFill>
                  </a:tcPr>
                </a:tc>
                <a:extLst>
                  <a:ext uri="{0D108BD9-81ED-4DB2-BD59-A6C34878D82A}">
                    <a16:rowId xmlns:a16="http://schemas.microsoft.com/office/drawing/2014/main" val="10005"/>
                  </a:ext>
                </a:extLst>
              </a:tr>
              <a:tr h="561708">
                <a:tc>
                  <a:txBody>
                    <a:bodyPr/>
                    <a:lstStyle/>
                    <a:p>
                      <a:pPr algn="l"/>
                      <a:r>
                        <a:rPr sz="1300">
                          <a:solidFill>
                            <a:srgbClr val="1A202C"/>
                          </a:solidFill>
                          <a:latin typeface="Arial"/>
                        </a:rPr>
                        <a:t>Propuštene prevare (False Negatives) - SKUP</a:t>
                      </a:r>
                    </a:p>
                  </a:txBody>
                  <a:tcPr>
                    <a:solidFill>
                      <a:srgbClr val="EEEBE4"/>
                    </a:solidFill>
                  </a:tcPr>
                </a:tc>
                <a:tc>
                  <a:txBody>
                    <a:bodyPr/>
                    <a:lstStyle/>
                    <a:p>
                      <a:pPr algn="ctr"/>
                      <a:r>
                        <a:rPr sz="1300">
                          <a:solidFill>
                            <a:srgbClr val="1A202C"/>
                          </a:solidFill>
                          <a:latin typeface="Arial"/>
                        </a:rPr>
                        <a:t>16 lažnih oglasa propušteno</a:t>
                      </a:r>
                    </a:p>
                  </a:txBody>
                  <a:tcPr>
                    <a:solidFill>
                      <a:srgbClr val="EEEBE4"/>
                    </a:solidFill>
                  </a:tcPr>
                </a:tc>
                <a:tc>
                  <a:txBody>
                    <a:bodyPr/>
                    <a:lstStyle/>
                    <a:p>
                      <a:pPr algn="ctr"/>
                      <a:r>
                        <a:rPr sz="1300">
                          <a:solidFill>
                            <a:srgbClr val="1A202C"/>
                          </a:solidFill>
                          <a:latin typeface="Arial"/>
                        </a:rPr>
                        <a:t>27 lažnih oglasa propušteno</a:t>
                      </a:r>
                    </a:p>
                  </a:txBody>
                  <a:tcPr>
                    <a:solidFill>
                      <a:srgbClr val="EEEBE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Izbor optimalnog praga odlučivanja zavisi od realnog troška greške</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920240"/>
            <a:ext cx="5303520" cy="3931920"/>
          </a:xfrm>
          <a:prstGeom prst="roundRect">
            <a:avLst/>
          </a:prstGeom>
          <a:solidFill>
            <a:srgbClr val="FFFFFF"/>
          </a:solidFill>
          <a:ln w="25400">
            <a:solidFill>
              <a:srgbClr val="319795"/>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1800" b="1">
                <a:solidFill>
                  <a:srgbClr val="319795"/>
                </a:solidFill>
                <a:latin typeface="Georgia"/>
              </a:defRPr>
            </a:pPr>
            <a:r>
              <a:t>Opcija A: Optimizacija za visoku preciznost</a:t>
            </a:r>
          </a:p>
          <a:p>
            <a:pPr>
              <a:spcAft>
                <a:spcPts val="800"/>
              </a:spcAft>
            </a:pPr>
            <a:r>
              <a:rPr sz="1400">
                <a:solidFill>
                  <a:srgbClr val="1A202C"/>
                </a:solidFill>
                <a:latin typeface="Arial"/>
              </a:rPr>
              <a:t>• </a:t>
            </a:r>
            <a:r>
              <a:rPr sz="1400" b="1">
                <a:solidFill>
                  <a:srgbClr val="1A202C"/>
                </a:solidFill>
                <a:latin typeface="Arial"/>
              </a:rPr>
              <a:t>Model izbora</a:t>
            </a:r>
            <a:r>
              <a:rPr sz="1400">
                <a:solidFill>
                  <a:srgbClr val="1A202C"/>
                </a:solidFill>
                <a:latin typeface="Arial"/>
              </a:rPr>
              <a:t>: DistilBERT sa visokom preciznošću (0.924).</a:t>
            </a:r>
          </a:p>
          <a:p>
            <a:pPr>
              <a:spcAft>
                <a:spcPts val="800"/>
              </a:spcAft>
            </a:pPr>
            <a:r>
              <a:rPr sz="1400">
                <a:solidFill>
                  <a:srgbClr val="1A202C"/>
                </a:solidFill>
                <a:latin typeface="Arial"/>
              </a:rPr>
              <a:t>• </a:t>
            </a:r>
            <a:r>
              <a:rPr sz="1400" b="1">
                <a:solidFill>
                  <a:srgbClr val="1A202C"/>
                </a:solidFill>
                <a:latin typeface="Arial"/>
              </a:rPr>
              <a:t>Ključni cilj</a:t>
            </a:r>
            <a:r>
              <a:rPr sz="1400">
                <a:solidFill>
                  <a:srgbClr val="1A202C"/>
                </a:solidFill>
                <a:latin typeface="Arial"/>
              </a:rPr>
              <a:t>: Smanjiti lažne uzbune na apsolutni minimum (svega 12 u test skupu).</a:t>
            </a:r>
          </a:p>
          <a:p>
            <a:pPr>
              <a:spcAft>
                <a:spcPts val="800"/>
              </a:spcAft>
            </a:pPr>
            <a:r>
              <a:rPr sz="1400">
                <a:solidFill>
                  <a:srgbClr val="1A202C"/>
                </a:solidFill>
                <a:latin typeface="Arial"/>
              </a:rPr>
              <a:t>• </a:t>
            </a:r>
            <a:r>
              <a:rPr sz="1400" b="1">
                <a:solidFill>
                  <a:srgbClr val="1A202C"/>
                </a:solidFill>
                <a:latin typeface="Arial"/>
              </a:rPr>
              <a:t>Ciljna publika</a:t>
            </a:r>
            <a:r>
              <a:rPr sz="1400">
                <a:solidFill>
                  <a:srgbClr val="1A202C"/>
                </a:solidFill>
                <a:latin typeface="Arial"/>
              </a:rPr>
              <a:t>: Krajnji korisnici i opšta javnost na portalima za zapošljavanje.</a:t>
            </a:r>
          </a:p>
          <a:p>
            <a:pPr>
              <a:spcAft>
                <a:spcPts val="800"/>
              </a:spcAft>
            </a:pPr>
            <a:r>
              <a:rPr sz="1400">
                <a:solidFill>
                  <a:srgbClr val="1A202C"/>
                </a:solidFill>
                <a:latin typeface="Arial"/>
              </a:rPr>
              <a:t>• </a:t>
            </a:r>
            <a:r>
              <a:rPr sz="1400" b="1">
                <a:solidFill>
                  <a:srgbClr val="1A202C"/>
                </a:solidFill>
                <a:latin typeface="Arial"/>
              </a:rPr>
              <a:t>Logika</a:t>
            </a:r>
            <a:r>
              <a:rPr sz="1400">
                <a:solidFill>
                  <a:srgbClr val="1A202C"/>
                </a:solidFill>
                <a:latin typeface="Arial"/>
              </a:rPr>
              <a:t>: Previše lažnih uzbuna frustrira korisnike i tera ih da ignorišu upozorenja sistema, čime aplikacija gubi kredibilitet.</a:t>
            </a:r>
          </a:p>
        </p:txBody>
      </p:sp>
      <p:sp>
        <p:nvSpPr>
          <p:cNvPr id="5" name="Rounded Rectangle 4"/>
          <p:cNvSpPr/>
          <p:nvPr/>
        </p:nvSpPr>
        <p:spPr>
          <a:xfrm>
            <a:off x="6309360" y="1920240"/>
            <a:ext cx="5303520" cy="3931920"/>
          </a:xfrm>
          <a:prstGeom prst="roundRect">
            <a:avLst/>
          </a:prstGeom>
          <a:solidFill>
            <a:srgbClr val="FFFFFF"/>
          </a:solidFill>
          <a:ln w="25400">
            <a:solidFill>
              <a:srgbClr val="E25C50"/>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400"/>
              </a:spcAft>
              <a:defRPr sz="1800" b="1">
                <a:solidFill>
                  <a:srgbClr val="E25C50"/>
                </a:solidFill>
                <a:latin typeface="Georgia"/>
              </a:defRPr>
            </a:pPr>
            <a:r>
              <a:t>Opcija B: Optimizacija za visok odziv (Recall)</a:t>
            </a:r>
          </a:p>
          <a:p>
            <a:pPr>
              <a:spcAft>
                <a:spcPts val="800"/>
              </a:spcAft>
            </a:pPr>
            <a:r>
              <a:rPr sz="1400">
                <a:solidFill>
                  <a:srgbClr val="1A202C"/>
                </a:solidFill>
                <a:latin typeface="Arial"/>
              </a:rPr>
              <a:t>• </a:t>
            </a:r>
            <a:r>
              <a:rPr sz="1400" b="1">
                <a:solidFill>
                  <a:srgbClr val="1A202C"/>
                </a:solidFill>
                <a:latin typeface="Arial"/>
              </a:rPr>
              <a:t>Model izbora</a:t>
            </a:r>
            <a:r>
              <a:rPr sz="1400">
                <a:solidFill>
                  <a:srgbClr val="1A202C"/>
                </a:solidFill>
                <a:latin typeface="Arial"/>
              </a:rPr>
              <a:t>: Referentni model sa visokim odzivom (0.908) ili DistilBERT sa spuštenim pragom odlučivanja.</a:t>
            </a:r>
          </a:p>
          <a:p>
            <a:pPr>
              <a:spcAft>
                <a:spcPts val="800"/>
              </a:spcAft>
            </a:pPr>
            <a:r>
              <a:rPr sz="1400">
                <a:solidFill>
                  <a:srgbClr val="1A202C"/>
                </a:solidFill>
                <a:latin typeface="Arial"/>
              </a:rPr>
              <a:t>• </a:t>
            </a:r>
            <a:r>
              <a:rPr sz="1400" b="1">
                <a:solidFill>
                  <a:srgbClr val="1A202C"/>
                </a:solidFill>
                <a:latin typeface="Arial"/>
              </a:rPr>
              <a:t>Ključni cilj</a:t>
            </a:r>
            <a:r>
              <a:rPr sz="1400">
                <a:solidFill>
                  <a:srgbClr val="1A202C"/>
                </a:solidFill>
                <a:latin typeface="Arial"/>
              </a:rPr>
              <a:t>: Detektovati što veći broj prevara, makar po cenu lažnih uzbuna (samo 16 propuštenih prevara naspram 27).</a:t>
            </a:r>
          </a:p>
          <a:p>
            <a:pPr>
              <a:spcAft>
                <a:spcPts val="800"/>
              </a:spcAft>
            </a:pPr>
            <a:r>
              <a:rPr sz="1400">
                <a:solidFill>
                  <a:srgbClr val="1A202C"/>
                </a:solidFill>
                <a:latin typeface="Arial"/>
              </a:rPr>
              <a:t>• </a:t>
            </a:r>
            <a:r>
              <a:rPr sz="1400" b="1">
                <a:solidFill>
                  <a:srgbClr val="1A202C"/>
                </a:solidFill>
                <a:latin typeface="Arial"/>
              </a:rPr>
              <a:t>Ciljna publika</a:t>
            </a:r>
            <a:r>
              <a:rPr sz="1400">
                <a:solidFill>
                  <a:srgbClr val="1A202C"/>
                </a:solidFill>
                <a:latin typeface="Arial"/>
              </a:rPr>
              <a:t>: Interni timovi za bezbednost i moderatori platformi.</a:t>
            </a:r>
          </a:p>
          <a:p>
            <a:pPr>
              <a:spcAft>
                <a:spcPts val="800"/>
              </a:spcAft>
            </a:pPr>
            <a:r>
              <a:rPr sz="1400">
                <a:solidFill>
                  <a:srgbClr val="1A202C"/>
                </a:solidFill>
                <a:latin typeface="Arial"/>
              </a:rPr>
              <a:t>• </a:t>
            </a:r>
            <a:r>
              <a:rPr sz="1400" b="1">
                <a:solidFill>
                  <a:srgbClr val="1A202C"/>
                </a:solidFill>
                <a:latin typeface="Arial"/>
              </a:rPr>
              <a:t>Logika</a:t>
            </a:r>
            <a:r>
              <a:rPr sz="1400">
                <a:solidFill>
                  <a:srgbClr val="1A202C"/>
                </a:solidFill>
                <a:latin typeface="Arial"/>
              </a:rPr>
              <a:t>: Za moderatore portala je bezbednije da dobiju upozorenje za sumnjiv oglas i ručno ga prekontrolišu, nego da im stvarna prevara promakne i ugrozi posetioce.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lIns="0" tIns="0" rIns="0" bIns="0">
            <a:spAutoFit/>
          </a:bodyPr>
          <a:lstStyle/>
          <a:p>
            <a:pPr algn="l"/>
            <a:r>
              <a:rPr sz="2200" b="1">
                <a:solidFill>
                  <a:srgbClr val="1A202C"/>
                </a:solidFill>
                <a:latin typeface="Georgia"/>
              </a:rPr>
              <a:t>Tranzicija na srpsko govorno područje kroz lokalne jezičke modele</a:t>
            </a:r>
          </a:p>
        </p:txBody>
      </p:sp>
      <p:sp>
        <p:nvSpPr>
          <p:cNvPr id="3" name="Rectangle 2"/>
          <p:cNvSpPr/>
          <p:nvPr/>
        </p:nvSpPr>
        <p:spPr>
          <a:xfrm>
            <a:off x="548640" y="1371600"/>
            <a:ext cx="11091672" cy="19050"/>
          </a:xfrm>
          <a:prstGeom prst="rect">
            <a:avLst/>
          </a:prstGeom>
          <a:solidFill>
            <a:srgbClr val="E25C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920240"/>
            <a:ext cx="3474720" cy="3931920"/>
          </a:xfrm>
          <a:prstGeom prst="roundRect">
            <a:avLst/>
          </a:prstGeom>
          <a:solidFill>
            <a:srgbClr val="EEEBE4"/>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000"/>
              </a:spcAft>
              <a:defRPr sz="1800" b="1">
                <a:solidFill>
                  <a:srgbClr val="319795"/>
                </a:solidFill>
                <a:latin typeface="Georgia"/>
              </a:defRPr>
            </a:pPr>
            <a:r>
              <a:t>Lokalni modeli</a:t>
            </a:r>
          </a:p>
          <a:p>
            <a:pPr>
              <a:spcAft>
                <a:spcPts val="800"/>
              </a:spcAft>
            </a:pPr>
            <a:r>
              <a:rPr sz="1200">
                <a:solidFill>
                  <a:srgbClr val="1A202C"/>
                </a:solidFill>
                <a:latin typeface="Arial"/>
              </a:rPr>
              <a:t>Skup EMSCAD čine oglasi na engleskom. Za prelazak na srpsko tržište neophodno je zameniti DistilBERT lokalnim transformer modelima obučenim za srpski, hrvatski, crnogorski i bosanski jezik.</a:t>
            </a:r>
          </a:p>
          <a:p>
            <a:pPr>
              <a:spcAft>
                <a:spcPts val="0"/>
              </a:spcAft>
            </a:pPr>
            <a:r>
              <a:rPr sz="1200">
                <a:solidFill>
                  <a:srgbClr val="718096"/>
                </a:solidFill>
                <a:latin typeface="Arial"/>
              </a:rPr>
              <a:t>Ključni kandidati su model </a:t>
            </a:r>
            <a:r>
              <a:rPr sz="1200" b="1">
                <a:solidFill>
                  <a:srgbClr val="718096"/>
                </a:solidFill>
                <a:latin typeface="Arial"/>
              </a:rPr>
              <a:t>BERTić</a:t>
            </a:r>
            <a:r>
              <a:rPr sz="1200">
                <a:solidFill>
                  <a:srgbClr val="718096"/>
                </a:solidFill>
                <a:latin typeface="Arial"/>
              </a:rPr>
              <a:t> i srpski embedding modeli poput </a:t>
            </a:r>
            <a:r>
              <a:rPr sz="1200" b="1">
                <a:solidFill>
                  <a:srgbClr val="718096"/>
                </a:solidFill>
                <a:latin typeface="Arial"/>
              </a:rPr>
              <a:t>Embedića</a:t>
            </a:r>
            <a:r>
              <a:rPr sz="1200">
                <a:solidFill>
                  <a:srgbClr val="718096"/>
                </a:solidFill>
                <a:latin typeface="Arial"/>
              </a:rPr>
              <a:t>, što će drastično popraviti kontekstualnu semantiku lokalnog govora.</a:t>
            </a:r>
          </a:p>
        </p:txBody>
      </p:sp>
      <p:sp>
        <p:nvSpPr>
          <p:cNvPr id="5" name="Rounded Rectangle 4"/>
          <p:cNvSpPr/>
          <p:nvPr/>
        </p:nvSpPr>
        <p:spPr>
          <a:xfrm>
            <a:off x="4352544" y="1920240"/>
            <a:ext cx="3474720" cy="3931920"/>
          </a:xfrm>
          <a:prstGeom prst="roundRect">
            <a:avLst/>
          </a:prstGeom>
          <a:solidFill>
            <a:srgbClr val="EEEBE4"/>
          </a:solidFill>
          <a:ln w="19050">
            <a:solidFill>
              <a:srgbClr val="1A202C"/>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000"/>
              </a:spcAft>
              <a:defRPr sz="1800" b="1">
                <a:solidFill>
                  <a:srgbClr val="1A202C"/>
                </a:solidFill>
                <a:latin typeface="Georgia"/>
              </a:defRPr>
            </a:pPr>
            <a:r>
              <a:t>Prikupljanje i označavanje</a:t>
            </a:r>
          </a:p>
          <a:p>
            <a:pPr>
              <a:spcAft>
                <a:spcPts val="800"/>
              </a:spcAft>
            </a:pPr>
            <a:r>
              <a:rPr sz="1200">
                <a:solidFill>
                  <a:srgbClr val="1A202C"/>
                </a:solidFill>
                <a:latin typeface="Arial"/>
              </a:rPr>
              <a:t>Srbija nema javno dostupan označeni skup podataka za prevare u oglasima. Prvi korak je razvoj veb-skrepera za prikupljanje oglasa sa lokalnih portala za zapošljavanje.</a:t>
            </a:r>
          </a:p>
          <a:p>
            <a:pPr>
              <a:spcAft>
                <a:spcPts val="0"/>
              </a:spcAft>
            </a:pPr>
            <a:r>
              <a:rPr sz="1200">
                <a:solidFill>
                  <a:srgbClr val="718096"/>
                </a:solidFill>
                <a:latin typeface="Arial"/>
              </a:rPr>
              <a:t>Budući da su prevare u našoj praksi još uvek statistički ređe, planira se primena </a:t>
            </a:r>
            <a:r>
              <a:rPr sz="1200" b="1">
                <a:solidFill>
                  <a:srgbClr val="718096"/>
                </a:solidFill>
                <a:latin typeface="Arial"/>
              </a:rPr>
              <a:t>sintetičkog generisanja lažnih oglasa</a:t>
            </a:r>
            <a:r>
              <a:rPr sz="1200">
                <a:solidFill>
                  <a:srgbClr val="718096"/>
                </a:solidFill>
                <a:latin typeface="Arial"/>
              </a:rPr>
              <a:t> pomoću LLM-a radi augmentacije skupa.</a:t>
            </a:r>
          </a:p>
        </p:txBody>
      </p:sp>
      <p:sp>
        <p:nvSpPr>
          <p:cNvPr id="6" name="Rounded Rectangle 5"/>
          <p:cNvSpPr/>
          <p:nvPr/>
        </p:nvSpPr>
        <p:spPr>
          <a:xfrm>
            <a:off x="8156448" y="1920240"/>
            <a:ext cx="3474720" cy="3931920"/>
          </a:xfrm>
          <a:prstGeom prst="roundRect">
            <a:avLst/>
          </a:prstGeom>
          <a:solidFill>
            <a:srgbClr val="EEEBE4"/>
          </a:solidFill>
          <a:ln w="19050">
            <a:solidFill>
              <a:srgbClr val="E25C50"/>
            </a:solidFill>
          </a:ln>
        </p:spPr>
        <p:style>
          <a:lnRef idx="1">
            <a:schemeClr val="accent1"/>
          </a:lnRef>
          <a:fillRef idx="3">
            <a:schemeClr val="accent1"/>
          </a:fillRef>
          <a:effectRef idx="2">
            <a:schemeClr val="accent1"/>
          </a:effectRef>
          <a:fontRef idx="minor">
            <a:schemeClr val="lt1"/>
          </a:fontRef>
        </p:style>
        <p:txBody>
          <a:bodyPr wrap="square" lIns="228600" tIns="274320" rIns="228600" rtlCol="0" anchor="ctr"/>
          <a:lstStyle/>
          <a:p>
            <a:pPr algn="ctr">
              <a:spcAft>
                <a:spcPts val="1000"/>
              </a:spcAft>
              <a:defRPr sz="1800" b="1">
                <a:solidFill>
                  <a:srgbClr val="E25C50"/>
                </a:solidFill>
                <a:latin typeface="Georgia"/>
              </a:defRPr>
            </a:pPr>
            <a:r>
              <a:t>Ublažavanje nedeterminizma</a:t>
            </a:r>
          </a:p>
          <a:p>
            <a:pPr>
              <a:spcAft>
                <a:spcPts val="800"/>
              </a:spcAft>
            </a:pPr>
            <a:r>
              <a:rPr sz="1200">
                <a:solidFill>
                  <a:srgbClr val="1A202C"/>
                </a:solidFill>
                <a:latin typeface="Arial"/>
              </a:rPr>
              <a:t>Generativni LLM sloj za objašnjenja unosi varijabilnost u odgovorima i može ispoljiti blagi nedeterminizam u različitim API pozivima.</a:t>
            </a:r>
          </a:p>
          <a:p>
            <a:pPr>
              <a:spcAft>
                <a:spcPts val="0"/>
              </a:spcAft>
            </a:pPr>
            <a:r>
              <a:rPr sz="1200">
                <a:solidFill>
                  <a:srgbClr val="718096"/>
                </a:solidFill>
                <a:latin typeface="Arial"/>
              </a:rPr>
              <a:t>Rešenje leži u </a:t>
            </a:r>
            <a:r>
              <a:rPr sz="1200" b="1">
                <a:solidFill>
                  <a:srgbClr val="718096"/>
                </a:solidFill>
                <a:latin typeface="Arial"/>
              </a:rPr>
              <a:t>striktnom inženjeringu upita</a:t>
            </a:r>
            <a:r>
              <a:rPr sz="1200">
                <a:solidFill>
                  <a:srgbClr val="718096"/>
                </a:solidFill>
                <a:latin typeface="Arial"/>
              </a:rPr>
              <a:t> (prompt engineering), smanjenju temperature modela na nulu i primeni programskih JSON šema za validaciju.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2375</Words>
  <Application>Microsoft Office PowerPoint</Application>
  <PresentationFormat>Widescreen</PresentationFormat>
  <Paragraphs>147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iva241000@gmail.com</cp:lastModifiedBy>
  <cp:revision>2</cp:revision>
  <dcterms:created xsi:type="dcterms:W3CDTF">2013-01-27T09:14:16Z</dcterms:created>
  <dcterms:modified xsi:type="dcterms:W3CDTF">2026-08-27T07:21:17Z</dcterms:modified>
  <cp:category/>
</cp:coreProperties>
</file>